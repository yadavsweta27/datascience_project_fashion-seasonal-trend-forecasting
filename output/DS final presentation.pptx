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14630400" cy="8229600"/>
  <p:notesSz cx="8229600" cy="14630400"/>
  <p:embeddedFontLst>
    <p:embeddedFont>
      <p:font typeface="Century Schoolbook" panose="02040604050505020304" pitchFamily="18" charset="0"/>
      <p:regular r:id="rId15"/>
      <p:bold r:id="rId16"/>
      <p:italic r:id="rId17"/>
      <p:boldItalic r:id="rId18"/>
    </p:embeddedFont>
    <p:embeddedFont>
      <p:font typeface="Consolas" panose="020B0609020204030204" pitchFamily="49" charset="0"/>
      <p:regular r:id="rId19"/>
      <p:bold r:id="rId20"/>
      <p:italic r:id="rId21"/>
      <p:boldItalic r:id="rId22"/>
    </p:embeddedFont>
    <p:embeddedFont>
      <p:font typeface="Libre Baskerville" panose="02000000000000000000" pitchFamily="2" charset="0"/>
      <p:regular r:id="rId23"/>
    </p:embeddedFont>
    <p:embeddedFont>
      <p:font typeface="Open Sans" panose="020B0606030504020204" pitchFamily="34" charset="0"/>
      <p:regular r:id="rId24"/>
      <p:bold r:id="rId25"/>
      <p: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1B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1189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2.png"/><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6512" y="458272"/>
            <a:ext cx="7739896" cy="520660"/>
          </a:xfrm>
          <a:prstGeom prst="rect">
            <a:avLst/>
          </a:prstGeom>
          <a:noFill/>
          <a:ln/>
        </p:spPr>
        <p:txBody>
          <a:bodyPr wrap="none" lIns="0" tIns="0" rIns="0" bIns="0" rtlCol="0" anchor="t"/>
          <a:lstStyle/>
          <a:p>
            <a:pPr marL="0" indent="0" algn="l">
              <a:lnSpc>
                <a:spcPts val="4100"/>
              </a:lnSpc>
              <a:buNone/>
            </a:pPr>
            <a:r>
              <a:rPr lang="en-US" sz="3250" dirty="0">
                <a:solidFill>
                  <a:srgbClr val="403CCF"/>
                </a:solidFill>
                <a:latin typeface="Libre Baskerville" pitchFamily="34" charset="0"/>
                <a:ea typeface="Libre Baskerville" pitchFamily="34" charset="-122"/>
                <a:cs typeface="Libre Baskerville" pitchFamily="34" charset="-120"/>
              </a:rPr>
              <a:t>Fashion: Seasonal Trend Forecasting</a:t>
            </a:r>
            <a:endParaRPr lang="en-US" sz="3250" dirty="0"/>
          </a:p>
        </p:txBody>
      </p:sp>
      <p:sp>
        <p:nvSpPr>
          <p:cNvPr id="3" name="Text 1"/>
          <p:cNvSpPr/>
          <p:nvPr/>
        </p:nvSpPr>
        <p:spPr>
          <a:xfrm>
            <a:off x="666512" y="1045488"/>
            <a:ext cx="8863013" cy="416481"/>
          </a:xfrm>
          <a:prstGeom prst="rect">
            <a:avLst/>
          </a:prstGeom>
          <a:noFill/>
          <a:ln/>
        </p:spPr>
        <p:txBody>
          <a:bodyPr wrap="none" lIns="0" tIns="0" rIns="0" bIns="0" rtlCol="0" anchor="t"/>
          <a:lstStyle/>
          <a:p>
            <a:pPr marL="0" indent="0" algn="l">
              <a:lnSpc>
                <a:spcPts val="3250"/>
              </a:lnSpc>
              <a:buNone/>
            </a:pPr>
            <a:r>
              <a:rPr lang="en-US" sz="2600" dirty="0">
                <a:solidFill>
                  <a:srgbClr val="403CCF"/>
                </a:solidFill>
                <a:latin typeface="Libre Baskerville" pitchFamily="34" charset="0"/>
                <a:ea typeface="Libre Baskerville" pitchFamily="34" charset="-122"/>
                <a:cs typeface="Libre Baskerville" pitchFamily="34" charset="-120"/>
              </a:rPr>
              <a:t>Optimising Inventory through Time-Series Analysis</a:t>
            </a:r>
            <a:endParaRPr lang="en-US" sz="2600" dirty="0"/>
          </a:p>
        </p:txBody>
      </p:sp>
      <p:sp>
        <p:nvSpPr>
          <p:cNvPr id="4" name="Text 2"/>
          <p:cNvSpPr/>
          <p:nvPr/>
        </p:nvSpPr>
        <p:spPr>
          <a:xfrm>
            <a:off x="666512" y="1528524"/>
            <a:ext cx="3628549" cy="312539"/>
          </a:xfrm>
          <a:prstGeom prst="rect">
            <a:avLst/>
          </a:prstGeom>
          <a:noFill/>
          <a:ln/>
        </p:spPr>
        <p:txBody>
          <a:bodyPr wrap="none" lIns="0" tIns="0" rIns="0" bIns="0" rtlCol="0" anchor="t"/>
          <a:lstStyle/>
          <a:p>
            <a:pPr marL="0" indent="0" algn="l">
              <a:lnSpc>
                <a:spcPts val="2450"/>
              </a:lnSpc>
              <a:buNone/>
            </a:pPr>
            <a:r>
              <a:rPr lang="en-US" sz="1950" dirty="0">
                <a:solidFill>
                  <a:srgbClr val="403CCF"/>
                </a:solidFill>
                <a:latin typeface="Libre Baskerville" pitchFamily="34" charset="0"/>
                <a:ea typeface="Libre Baskerville" pitchFamily="34" charset="-122"/>
                <a:cs typeface="Libre Baskerville" pitchFamily="34" charset="-120"/>
              </a:rPr>
              <a:t>Team B11 Members &amp; Roles:</a:t>
            </a:r>
            <a:endParaRPr lang="en-US" sz="1950" dirty="0"/>
          </a:p>
        </p:txBody>
      </p:sp>
      <p:sp>
        <p:nvSpPr>
          <p:cNvPr id="5" name="Shape 3"/>
          <p:cNvSpPr/>
          <p:nvPr/>
        </p:nvSpPr>
        <p:spPr>
          <a:xfrm>
            <a:off x="666512" y="2090976"/>
            <a:ext cx="13297376" cy="1005840"/>
          </a:xfrm>
          <a:prstGeom prst="roundRect">
            <a:avLst>
              <a:gd name="adj" fmla="val 2485"/>
            </a:avLst>
          </a:prstGeom>
          <a:solidFill>
            <a:srgbClr val="FBFAFF"/>
          </a:solidFill>
          <a:ln w="22860">
            <a:solidFill>
              <a:srgbClr val="D0CED9"/>
            </a:solidFill>
            <a:prstDash val="solid"/>
          </a:ln>
        </p:spPr>
      </p:sp>
      <p:sp>
        <p:nvSpPr>
          <p:cNvPr id="6" name="Shape 4"/>
          <p:cNvSpPr/>
          <p:nvPr/>
        </p:nvSpPr>
        <p:spPr>
          <a:xfrm>
            <a:off x="689372" y="2113836"/>
            <a:ext cx="666512" cy="960120"/>
          </a:xfrm>
          <a:prstGeom prst="rect">
            <a:avLst/>
          </a:prstGeom>
          <a:solidFill>
            <a:srgbClr val="EAE8F3"/>
          </a:solidFill>
          <a:ln/>
        </p:spPr>
      </p:sp>
      <p:sp>
        <p:nvSpPr>
          <p:cNvPr id="7" name="Text 5"/>
          <p:cNvSpPr/>
          <p:nvPr/>
        </p:nvSpPr>
        <p:spPr>
          <a:xfrm>
            <a:off x="1522452" y="2280404"/>
            <a:ext cx="2218611" cy="260390"/>
          </a:xfrm>
          <a:prstGeom prst="rect">
            <a:avLst/>
          </a:prstGeom>
          <a:noFill/>
          <a:ln/>
        </p:spPr>
        <p:txBody>
          <a:bodyPr wrap="none" lIns="0" tIns="0" rIns="0" bIns="0" rtlCol="0" anchor="t"/>
          <a:lstStyle/>
          <a:p>
            <a:pPr marL="0" indent="0" algn="l">
              <a:lnSpc>
                <a:spcPts val="2050"/>
              </a:lnSpc>
              <a:buNone/>
            </a:pPr>
            <a:r>
              <a:rPr lang="en-US" sz="1600" dirty="0">
                <a:solidFill>
                  <a:srgbClr val="49495A"/>
                </a:solidFill>
                <a:latin typeface="Libre Baskerville" pitchFamily="34" charset="0"/>
                <a:ea typeface="Libre Baskerville" pitchFamily="34" charset="-122"/>
                <a:cs typeface="Libre Baskerville" pitchFamily="34" charset="-120"/>
              </a:rPr>
              <a:t>Yadav Mansi Rampal</a:t>
            </a:r>
            <a:endParaRPr lang="en-US" sz="1600" dirty="0"/>
          </a:p>
        </p:txBody>
      </p:sp>
      <p:sp>
        <p:nvSpPr>
          <p:cNvPr id="8" name="Text 6"/>
          <p:cNvSpPr/>
          <p:nvPr/>
        </p:nvSpPr>
        <p:spPr>
          <a:xfrm>
            <a:off x="1522452" y="2640687"/>
            <a:ext cx="12252008" cy="266700"/>
          </a:xfrm>
          <a:prstGeom prst="rect">
            <a:avLst/>
          </a:prstGeom>
          <a:noFill/>
          <a:ln/>
        </p:spPr>
        <p:txBody>
          <a:bodyPr wrap="none" lIns="0" tIns="0" rIns="0" bIns="0" rtlCol="0" anchor="t"/>
          <a:lstStyle/>
          <a:p>
            <a:pPr marL="0" indent="0" algn="l">
              <a:lnSpc>
                <a:spcPts val="2050"/>
              </a:lnSpc>
              <a:buNone/>
            </a:pPr>
            <a:r>
              <a:rPr lang="en-US" sz="1300" dirty="0">
                <a:solidFill>
                  <a:srgbClr val="49495A"/>
                </a:solidFill>
                <a:latin typeface="Open Sans" pitchFamily="34" charset="0"/>
                <a:ea typeface="Open Sans" pitchFamily="34" charset="-122"/>
                <a:cs typeface="Open Sans" pitchFamily="34" charset="-120"/>
              </a:rPr>
              <a:t>Data Architect: Dataset exploration, cleaning, and merging raw files.</a:t>
            </a:r>
            <a:endParaRPr lang="en-US" sz="1300" dirty="0"/>
          </a:p>
        </p:txBody>
      </p:sp>
      <p:sp>
        <p:nvSpPr>
          <p:cNvPr id="9" name="Shape 7"/>
          <p:cNvSpPr/>
          <p:nvPr/>
        </p:nvSpPr>
        <p:spPr>
          <a:xfrm>
            <a:off x="666512" y="3263384"/>
            <a:ext cx="13297376" cy="1005840"/>
          </a:xfrm>
          <a:prstGeom prst="roundRect">
            <a:avLst>
              <a:gd name="adj" fmla="val 2485"/>
            </a:avLst>
          </a:prstGeom>
          <a:solidFill>
            <a:srgbClr val="FBFAFF"/>
          </a:solidFill>
          <a:ln w="22860">
            <a:solidFill>
              <a:srgbClr val="D0CED9"/>
            </a:solidFill>
            <a:prstDash val="solid"/>
          </a:ln>
        </p:spPr>
      </p:sp>
      <p:sp>
        <p:nvSpPr>
          <p:cNvPr id="10" name="Shape 8"/>
          <p:cNvSpPr/>
          <p:nvPr/>
        </p:nvSpPr>
        <p:spPr>
          <a:xfrm>
            <a:off x="689372" y="3286244"/>
            <a:ext cx="666512" cy="960120"/>
          </a:xfrm>
          <a:prstGeom prst="rect">
            <a:avLst/>
          </a:prstGeom>
          <a:solidFill>
            <a:srgbClr val="EAE8F3"/>
          </a:solidFill>
          <a:ln/>
        </p:spPr>
      </p:sp>
      <p:sp>
        <p:nvSpPr>
          <p:cNvPr id="11" name="Text 9"/>
          <p:cNvSpPr/>
          <p:nvPr/>
        </p:nvSpPr>
        <p:spPr>
          <a:xfrm>
            <a:off x="1522452" y="3452813"/>
            <a:ext cx="2083118" cy="260390"/>
          </a:xfrm>
          <a:prstGeom prst="rect">
            <a:avLst/>
          </a:prstGeom>
          <a:noFill/>
          <a:ln/>
        </p:spPr>
        <p:txBody>
          <a:bodyPr wrap="none" lIns="0" tIns="0" rIns="0" bIns="0" rtlCol="0" anchor="t"/>
          <a:lstStyle/>
          <a:p>
            <a:pPr marL="0" indent="0" algn="l">
              <a:lnSpc>
                <a:spcPts val="2050"/>
              </a:lnSpc>
              <a:buNone/>
            </a:pPr>
            <a:r>
              <a:rPr lang="en-US" sz="1600" dirty="0">
                <a:solidFill>
                  <a:srgbClr val="49495A"/>
                </a:solidFill>
                <a:latin typeface="Libre Baskerville" pitchFamily="34" charset="0"/>
                <a:ea typeface="Libre Baskerville" pitchFamily="34" charset="-122"/>
                <a:cs typeface="Libre Baskerville" pitchFamily="34" charset="-120"/>
              </a:rPr>
              <a:t>Yadav Swetakumari</a:t>
            </a:r>
            <a:endParaRPr lang="en-US" sz="1600" dirty="0"/>
          </a:p>
        </p:txBody>
      </p:sp>
      <p:sp>
        <p:nvSpPr>
          <p:cNvPr id="12" name="Text 10"/>
          <p:cNvSpPr/>
          <p:nvPr/>
        </p:nvSpPr>
        <p:spPr>
          <a:xfrm>
            <a:off x="1522452" y="3813096"/>
            <a:ext cx="12252008" cy="266700"/>
          </a:xfrm>
          <a:prstGeom prst="rect">
            <a:avLst/>
          </a:prstGeom>
          <a:noFill/>
          <a:ln/>
        </p:spPr>
        <p:txBody>
          <a:bodyPr wrap="none" lIns="0" tIns="0" rIns="0" bIns="0" rtlCol="0" anchor="t"/>
          <a:lstStyle/>
          <a:p>
            <a:pPr marL="0" indent="0" algn="l">
              <a:lnSpc>
                <a:spcPts val="2050"/>
              </a:lnSpc>
              <a:buNone/>
            </a:pPr>
            <a:r>
              <a:rPr lang="en-US" sz="1300" dirty="0">
                <a:solidFill>
                  <a:srgbClr val="49495A"/>
                </a:solidFill>
                <a:latin typeface="Open Sans" pitchFamily="34" charset="0"/>
                <a:ea typeface="Open Sans" pitchFamily="34" charset="-122"/>
                <a:cs typeface="Open Sans" pitchFamily="34" charset="-120"/>
              </a:rPr>
              <a:t>EDA Analyst: Analysing statistical distributions and seasonality patterns.</a:t>
            </a:r>
            <a:endParaRPr lang="en-US" sz="1300" dirty="0"/>
          </a:p>
        </p:txBody>
      </p:sp>
      <p:sp>
        <p:nvSpPr>
          <p:cNvPr id="13" name="Shape 11"/>
          <p:cNvSpPr/>
          <p:nvPr/>
        </p:nvSpPr>
        <p:spPr>
          <a:xfrm>
            <a:off x="666512" y="4435793"/>
            <a:ext cx="13297376" cy="1005840"/>
          </a:xfrm>
          <a:prstGeom prst="roundRect">
            <a:avLst>
              <a:gd name="adj" fmla="val 2485"/>
            </a:avLst>
          </a:prstGeom>
          <a:solidFill>
            <a:srgbClr val="FBFAFF"/>
          </a:solidFill>
          <a:ln w="22860">
            <a:solidFill>
              <a:srgbClr val="D0CED9"/>
            </a:solidFill>
            <a:prstDash val="solid"/>
          </a:ln>
        </p:spPr>
      </p:sp>
      <p:sp>
        <p:nvSpPr>
          <p:cNvPr id="14" name="Shape 12"/>
          <p:cNvSpPr/>
          <p:nvPr/>
        </p:nvSpPr>
        <p:spPr>
          <a:xfrm>
            <a:off x="689372" y="4458653"/>
            <a:ext cx="666512" cy="960120"/>
          </a:xfrm>
          <a:prstGeom prst="rect">
            <a:avLst/>
          </a:prstGeom>
          <a:solidFill>
            <a:srgbClr val="EAE8F3"/>
          </a:solidFill>
          <a:ln/>
        </p:spPr>
      </p:sp>
      <p:sp>
        <p:nvSpPr>
          <p:cNvPr id="15" name="Text 13"/>
          <p:cNvSpPr/>
          <p:nvPr/>
        </p:nvSpPr>
        <p:spPr>
          <a:xfrm>
            <a:off x="1522452" y="4625221"/>
            <a:ext cx="2083118" cy="260390"/>
          </a:xfrm>
          <a:prstGeom prst="rect">
            <a:avLst/>
          </a:prstGeom>
          <a:noFill/>
          <a:ln/>
        </p:spPr>
        <p:txBody>
          <a:bodyPr wrap="none" lIns="0" tIns="0" rIns="0" bIns="0" rtlCol="0" anchor="t"/>
          <a:lstStyle/>
          <a:p>
            <a:pPr marL="0" indent="0" algn="l">
              <a:lnSpc>
                <a:spcPts val="2050"/>
              </a:lnSpc>
              <a:buNone/>
            </a:pPr>
            <a:r>
              <a:rPr lang="en-US" sz="1600" dirty="0">
                <a:solidFill>
                  <a:srgbClr val="49495A"/>
                </a:solidFill>
                <a:latin typeface="Libre Baskerville" pitchFamily="34" charset="0"/>
                <a:ea typeface="Libre Baskerville" pitchFamily="34" charset="-122"/>
                <a:cs typeface="Libre Baskerville" pitchFamily="34" charset="-120"/>
              </a:rPr>
              <a:t>Mistry Jaykumar</a:t>
            </a:r>
            <a:endParaRPr lang="en-US" sz="1600" dirty="0"/>
          </a:p>
        </p:txBody>
      </p:sp>
      <p:sp>
        <p:nvSpPr>
          <p:cNvPr id="16" name="Text 14"/>
          <p:cNvSpPr/>
          <p:nvPr/>
        </p:nvSpPr>
        <p:spPr>
          <a:xfrm>
            <a:off x="1522452" y="4985504"/>
            <a:ext cx="12252008" cy="266700"/>
          </a:xfrm>
          <a:prstGeom prst="rect">
            <a:avLst/>
          </a:prstGeom>
          <a:noFill/>
          <a:ln/>
        </p:spPr>
        <p:txBody>
          <a:bodyPr wrap="none" lIns="0" tIns="0" rIns="0" bIns="0" rtlCol="0" anchor="t"/>
          <a:lstStyle/>
          <a:p>
            <a:pPr marL="0" indent="0" algn="l">
              <a:lnSpc>
                <a:spcPts val="2050"/>
              </a:lnSpc>
              <a:buNone/>
            </a:pPr>
            <a:r>
              <a:rPr lang="en-US" sz="1300" dirty="0">
                <a:solidFill>
                  <a:srgbClr val="49495A"/>
                </a:solidFill>
                <a:latin typeface="Open Sans" pitchFamily="34" charset="0"/>
                <a:ea typeface="Open Sans" pitchFamily="34" charset="-122"/>
                <a:cs typeface="Open Sans" pitchFamily="34" charset="-120"/>
              </a:rPr>
              <a:t>Feature Engineer: Creating "Lagged" variables and handling time-series formatting.</a:t>
            </a:r>
            <a:endParaRPr lang="en-US" sz="1300" dirty="0"/>
          </a:p>
        </p:txBody>
      </p:sp>
      <p:sp>
        <p:nvSpPr>
          <p:cNvPr id="17" name="Shape 15"/>
          <p:cNvSpPr/>
          <p:nvPr/>
        </p:nvSpPr>
        <p:spPr>
          <a:xfrm>
            <a:off x="666512" y="5608201"/>
            <a:ext cx="13297376" cy="1005840"/>
          </a:xfrm>
          <a:prstGeom prst="roundRect">
            <a:avLst>
              <a:gd name="adj" fmla="val 2485"/>
            </a:avLst>
          </a:prstGeom>
          <a:solidFill>
            <a:srgbClr val="FBFAFF"/>
          </a:solidFill>
          <a:ln w="22860">
            <a:solidFill>
              <a:srgbClr val="D0CED9"/>
            </a:solidFill>
            <a:prstDash val="solid"/>
          </a:ln>
        </p:spPr>
      </p:sp>
      <p:sp>
        <p:nvSpPr>
          <p:cNvPr id="18" name="Shape 16"/>
          <p:cNvSpPr/>
          <p:nvPr/>
        </p:nvSpPr>
        <p:spPr>
          <a:xfrm>
            <a:off x="689372" y="5631061"/>
            <a:ext cx="666512" cy="960120"/>
          </a:xfrm>
          <a:prstGeom prst="rect">
            <a:avLst/>
          </a:prstGeom>
          <a:solidFill>
            <a:srgbClr val="EAE8F3"/>
          </a:solidFill>
          <a:ln/>
        </p:spPr>
      </p:sp>
      <p:sp>
        <p:nvSpPr>
          <p:cNvPr id="19" name="Text 17"/>
          <p:cNvSpPr/>
          <p:nvPr/>
        </p:nvSpPr>
        <p:spPr>
          <a:xfrm>
            <a:off x="1522452" y="5797629"/>
            <a:ext cx="2295882" cy="260390"/>
          </a:xfrm>
          <a:prstGeom prst="rect">
            <a:avLst/>
          </a:prstGeom>
          <a:noFill/>
          <a:ln/>
        </p:spPr>
        <p:txBody>
          <a:bodyPr wrap="none" lIns="0" tIns="0" rIns="0" bIns="0" rtlCol="0" anchor="t"/>
          <a:lstStyle/>
          <a:p>
            <a:pPr marL="0" indent="0" algn="l">
              <a:lnSpc>
                <a:spcPts val="2050"/>
              </a:lnSpc>
              <a:buNone/>
            </a:pPr>
            <a:r>
              <a:rPr lang="en-US" sz="1600" dirty="0">
                <a:solidFill>
                  <a:srgbClr val="49495A"/>
                </a:solidFill>
                <a:latin typeface="Libre Baskerville" pitchFamily="34" charset="0"/>
                <a:ea typeface="Libre Baskerville" pitchFamily="34" charset="-122"/>
                <a:cs typeface="Libre Baskerville" pitchFamily="34" charset="-120"/>
              </a:rPr>
              <a:t>More Anuj Mahendra</a:t>
            </a:r>
            <a:endParaRPr lang="en-US" sz="1600" dirty="0"/>
          </a:p>
        </p:txBody>
      </p:sp>
      <p:sp>
        <p:nvSpPr>
          <p:cNvPr id="20" name="Text 18"/>
          <p:cNvSpPr/>
          <p:nvPr/>
        </p:nvSpPr>
        <p:spPr>
          <a:xfrm>
            <a:off x="1522452" y="6157913"/>
            <a:ext cx="12252008" cy="266700"/>
          </a:xfrm>
          <a:prstGeom prst="rect">
            <a:avLst/>
          </a:prstGeom>
          <a:noFill/>
          <a:ln/>
        </p:spPr>
        <p:txBody>
          <a:bodyPr wrap="none" lIns="0" tIns="0" rIns="0" bIns="0" rtlCol="0" anchor="t"/>
          <a:lstStyle/>
          <a:p>
            <a:pPr marL="0" indent="0" algn="l">
              <a:lnSpc>
                <a:spcPts val="2050"/>
              </a:lnSpc>
              <a:buNone/>
            </a:pPr>
            <a:r>
              <a:rPr lang="en-US" sz="1300" dirty="0">
                <a:solidFill>
                  <a:srgbClr val="49495A"/>
                </a:solidFill>
                <a:latin typeface="Open Sans" pitchFamily="34" charset="0"/>
                <a:ea typeface="Open Sans" pitchFamily="34" charset="-122"/>
                <a:cs typeface="Open Sans" pitchFamily="34" charset="-120"/>
              </a:rPr>
              <a:t>Modeler: Running and tuning the Random Forest algorithm.</a:t>
            </a:r>
            <a:endParaRPr lang="en-US" sz="1300" dirty="0"/>
          </a:p>
        </p:txBody>
      </p:sp>
      <p:sp>
        <p:nvSpPr>
          <p:cNvPr id="21" name="Shape 19"/>
          <p:cNvSpPr/>
          <p:nvPr/>
        </p:nvSpPr>
        <p:spPr>
          <a:xfrm>
            <a:off x="666512" y="6780609"/>
            <a:ext cx="13297376" cy="1005840"/>
          </a:xfrm>
          <a:prstGeom prst="roundRect">
            <a:avLst>
              <a:gd name="adj" fmla="val 2485"/>
            </a:avLst>
          </a:prstGeom>
          <a:solidFill>
            <a:srgbClr val="FBFAFF"/>
          </a:solidFill>
          <a:ln w="22860">
            <a:solidFill>
              <a:srgbClr val="D0CED9"/>
            </a:solidFill>
            <a:prstDash val="solid"/>
          </a:ln>
        </p:spPr>
      </p:sp>
      <p:sp>
        <p:nvSpPr>
          <p:cNvPr id="22" name="Shape 20"/>
          <p:cNvSpPr/>
          <p:nvPr/>
        </p:nvSpPr>
        <p:spPr>
          <a:xfrm>
            <a:off x="689372" y="6803469"/>
            <a:ext cx="666512" cy="960120"/>
          </a:xfrm>
          <a:prstGeom prst="rect">
            <a:avLst/>
          </a:prstGeom>
          <a:solidFill>
            <a:srgbClr val="EAE8F3"/>
          </a:solidFill>
          <a:ln/>
        </p:spPr>
      </p:sp>
      <p:sp>
        <p:nvSpPr>
          <p:cNvPr id="23" name="Text 21"/>
          <p:cNvSpPr/>
          <p:nvPr/>
        </p:nvSpPr>
        <p:spPr>
          <a:xfrm>
            <a:off x="1522452" y="6970038"/>
            <a:ext cx="2083118" cy="260390"/>
          </a:xfrm>
          <a:prstGeom prst="rect">
            <a:avLst/>
          </a:prstGeom>
          <a:noFill/>
          <a:ln/>
        </p:spPr>
        <p:txBody>
          <a:bodyPr wrap="none" lIns="0" tIns="0" rIns="0" bIns="0" rtlCol="0" anchor="t"/>
          <a:lstStyle/>
          <a:p>
            <a:pPr marL="0" indent="0" algn="l">
              <a:lnSpc>
                <a:spcPts val="2050"/>
              </a:lnSpc>
              <a:buNone/>
            </a:pPr>
            <a:r>
              <a:rPr lang="en-US" sz="1600" dirty="0">
                <a:solidFill>
                  <a:srgbClr val="49495A"/>
                </a:solidFill>
                <a:latin typeface="Libre Baskerville" pitchFamily="34" charset="0"/>
                <a:ea typeface="Libre Baskerville" pitchFamily="34" charset="-122"/>
                <a:cs typeface="Libre Baskerville" pitchFamily="34" charset="-120"/>
              </a:rPr>
              <a:t>Palkar Shravani</a:t>
            </a:r>
            <a:endParaRPr lang="en-US" sz="1600" dirty="0"/>
          </a:p>
        </p:txBody>
      </p:sp>
      <p:sp>
        <p:nvSpPr>
          <p:cNvPr id="24" name="Text 22"/>
          <p:cNvSpPr/>
          <p:nvPr/>
        </p:nvSpPr>
        <p:spPr>
          <a:xfrm>
            <a:off x="1522452" y="7330321"/>
            <a:ext cx="12252008" cy="266700"/>
          </a:xfrm>
          <a:prstGeom prst="rect">
            <a:avLst/>
          </a:prstGeom>
          <a:noFill/>
          <a:ln/>
        </p:spPr>
        <p:txBody>
          <a:bodyPr wrap="none" lIns="0" tIns="0" rIns="0" bIns="0" rtlCol="0" anchor="t"/>
          <a:lstStyle/>
          <a:p>
            <a:pPr marL="0" indent="0" algn="l">
              <a:lnSpc>
                <a:spcPts val="2050"/>
              </a:lnSpc>
              <a:buNone/>
            </a:pPr>
            <a:r>
              <a:rPr lang="en-US" sz="1300" dirty="0">
                <a:solidFill>
                  <a:srgbClr val="49495A"/>
                </a:solidFill>
                <a:latin typeface="Open Sans" pitchFamily="34" charset="0"/>
                <a:ea typeface="Open Sans" pitchFamily="34" charset="-122"/>
                <a:cs typeface="Open Sans" pitchFamily="34" charset="-120"/>
              </a:rPr>
              <a:t>Insights Lead: Translating model outputs into business strategies.</a:t>
            </a:r>
            <a:endParaRPr lang="en-US" sz="1300" dirty="0"/>
          </a:p>
        </p:txBody>
      </p:sp>
      <p:pic>
        <p:nvPicPr>
          <p:cNvPr id="26" name="Picture 25">
            <a:extLst>
              <a:ext uri="{FF2B5EF4-FFF2-40B4-BE49-F238E27FC236}">
                <a16:creationId xmlns:a16="http://schemas.microsoft.com/office/drawing/2014/main" id="{AFD22969-BFEC-A190-9EC6-7B59E7D75A7A}"/>
              </a:ext>
            </a:extLst>
          </p:cNvPr>
          <p:cNvPicPr>
            <a:picLocks noChangeAspect="1"/>
          </p:cNvPicPr>
          <p:nvPr/>
        </p:nvPicPr>
        <p:blipFill>
          <a:blip r:embed="rId3"/>
          <a:stretch>
            <a:fillRect/>
          </a:stretch>
        </p:blipFill>
        <p:spPr>
          <a:xfrm>
            <a:off x="12902198" y="7786449"/>
            <a:ext cx="1728202" cy="3602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96948"/>
            <a:ext cx="12631103" cy="620078"/>
          </a:xfrm>
          <a:prstGeom prst="rect">
            <a:avLst/>
          </a:prstGeom>
          <a:noFill/>
          <a:ln/>
        </p:spPr>
        <p:txBody>
          <a:bodyPr wrap="none" lIns="0" tIns="0" rIns="0" bIns="0" rtlCol="0" anchor="t"/>
          <a:lstStyle/>
          <a:p>
            <a:pPr marL="0" indent="0" algn="l">
              <a:lnSpc>
                <a:spcPts val="4850"/>
              </a:lnSpc>
              <a:buNone/>
            </a:pPr>
            <a:r>
              <a:rPr lang="en-US" sz="3900" dirty="0">
                <a:solidFill>
                  <a:srgbClr val="403CCF"/>
                </a:solidFill>
                <a:latin typeface="Libre Baskerville" pitchFamily="34" charset="0"/>
                <a:ea typeface="Libre Baskerville" pitchFamily="34" charset="-122"/>
                <a:cs typeface="Libre Baskerville" pitchFamily="34" charset="-120"/>
              </a:rPr>
              <a:t>The Business Problem: Volatility in Fashion Retail</a:t>
            </a:r>
            <a:endParaRPr lang="en-US" sz="3900" dirty="0"/>
          </a:p>
        </p:txBody>
      </p:sp>
      <p:sp>
        <p:nvSpPr>
          <p:cNvPr id="3" name="Text 1"/>
          <p:cNvSpPr/>
          <p:nvPr/>
        </p:nvSpPr>
        <p:spPr>
          <a:xfrm>
            <a:off x="793790" y="2313861"/>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Fashion retail is inherently volatile, with trends shifting weekly while inventory orders are placed months in advance. Current forecasting methods rely heavily on intuition rather than robust historical data patterns, leading to significant inefficiencies.</a:t>
            </a:r>
            <a:endParaRPr lang="en-US" sz="1550" dirty="0"/>
          </a:p>
        </p:txBody>
      </p:sp>
      <p:sp>
        <p:nvSpPr>
          <p:cNvPr id="4" name="Shape 2"/>
          <p:cNvSpPr/>
          <p:nvPr/>
        </p:nvSpPr>
        <p:spPr>
          <a:xfrm>
            <a:off x="793790" y="3172182"/>
            <a:ext cx="4215289" cy="2158008"/>
          </a:xfrm>
          <a:prstGeom prst="roundRect">
            <a:avLst>
              <a:gd name="adj" fmla="val 1380"/>
            </a:avLst>
          </a:prstGeom>
          <a:solidFill>
            <a:srgbClr val="403CCF"/>
          </a:solidFill>
          <a:ln/>
        </p:spPr>
      </p:sp>
      <p:sp>
        <p:nvSpPr>
          <p:cNvPr id="5" name="Text 3"/>
          <p:cNvSpPr/>
          <p:nvPr/>
        </p:nvSpPr>
        <p:spPr>
          <a:xfrm>
            <a:off x="992148" y="3370540"/>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FFFFFF"/>
                </a:solidFill>
                <a:latin typeface="Libre Baskerville" pitchFamily="34" charset="0"/>
                <a:ea typeface="Libre Baskerville" pitchFamily="34" charset="-122"/>
                <a:cs typeface="Libre Baskerville" pitchFamily="34" charset="-120"/>
              </a:rPr>
              <a:t>Overstocking</a:t>
            </a:r>
            <a:endParaRPr lang="en-US" sz="2300" dirty="0"/>
          </a:p>
        </p:txBody>
      </p:sp>
      <p:sp>
        <p:nvSpPr>
          <p:cNvPr id="6" name="Text 4"/>
          <p:cNvSpPr/>
          <p:nvPr/>
        </p:nvSpPr>
        <p:spPr>
          <a:xfrm>
            <a:off x="992148" y="3861673"/>
            <a:ext cx="3818573" cy="95261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Open Sans" pitchFamily="34" charset="0"/>
                <a:ea typeface="Open Sans" pitchFamily="34" charset="-122"/>
                <a:cs typeface="Open Sans" pitchFamily="34" charset="-120"/>
              </a:rPr>
              <a:t>Unsold inventory results in heavy markdowns and wasted storage space, directly impacting profitability.</a:t>
            </a:r>
            <a:endParaRPr lang="en-US" sz="1550" dirty="0"/>
          </a:p>
        </p:txBody>
      </p:sp>
      <p:sp>
        <p:nvSpPr>
          <p:cNvPr id="7" name="Shape 5"/>
          <p:cNvSpPr/>
          <p:nvPr/>
        </p:nvSpPr>
        <p:spPr>
          <a:xfrm>
            <a:off x="5207437" y="3172182"/>
            <a:ext cx="4215408" cy="2158008"/>
          </a:xfrm>
          <a:prstGeom prst="roundRect">
            <a:avLst>
              <a:gd name="adj" fmla="val 1380"/>
            </a:avLst>
          </a:prstGeom>
          <a:solidFill>
            <a:srgbClr val="403CCF"/>
          </a:solidFill>
          <a:ln/>
        </p:spPr>
      </p:sp>
      <p:sp>
        <p:nvSpPr>
          <p:cNvPr id="8" name="Text 6"/>
          <p:cNvSpPr/>
          <p:nvPr/>
        </p:nvSpPr>
        <p:spPr>
          <a:xfrm>
            <a:off x="5405795" y="3370540"/>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FFFFFF"/>
                </a:solidFill>
                <a:latin typeface="Libre Baskerville" pitchFamily="34" charset="0"/>
                <a:ea typeface="Libre Baskerville" pitchFamily="34" charset="-122"/>
                <a:cs typeface="Libre Baskerville" pitchFamily="34" charset="-120"/>
              </a:rPr>
              <a:t>Understocking</a:t>
            </a:r>
            <a:endParaRPr lang="en-US" sz="2300" dirty="0"/>
          </a:p>
        </p:txBody>
      </p:sp>
      <p:sp>
        <p:nvSpPr>
          <p:cNvPr id="9" name="Text 7"/>
          <p:cNvSpPr/>
          <p:nvPr/>
        </p:nvSpPr>
        <p:spPr>
          <a:xfrm>
            <a:off x="5405795" y="3861673"/>
            <a:ext cx="3818692" cy="127015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Open Sans" pitchFamily="34" charset="0"/>
                <a:ea typeface="Open Sans" pitchFamily="34" charset="-122"/>
                <a:cs typeface="Open Sans" pitchFamily="34" charset="-120"/>
              </a:rPr>
              <a:t>Missing out on "viral" trends leads to lost revenue opportunities and dissatisfied customers who cannot find desired items.</a:t>
            </a:r>
            <a:endParaRPr lang="en-US" sz="1550" dirty="0"/>
          </a:p>
        </p:txBody>
      </p:sp>
      <p:sp>
        <p:nvSpPr>
          <p:cNvPr id="10" name="Shape 8"/>
          <p:cNvSpPr/>
          <p:nvPr/>
        </p:nvSpPr>
        <p:spPr>
          <a:xfrm>
            <a:off x="9621203" y="3172182"/>
            <a:ext cx="4215289" cy="2158008"/>
          </a:xfrm>
          <a:prstGeom prst="roundRect">
            <a:avLst>
              <a:gd name="adj" fmla="val 1380"/>
            </a:avLst>
          </a:prstGeom>
          <a:solidFill>
            <a:srgbClr val="403CCF"/>
          </a:solidFill>
          <a:ln/>
        </p:spPr>
      </p:sp>
      <p:sp>
        <p:nvSpPr>
          <p:cNvPr id="11" name="Text 9"/>
          <p:cNvSpPr/>
          <p:nvPr/>
        </p:nvSpPr>
        <p:spPr>
          <a:xfrm>
            <a:off x="9819561" y="3370540"/>
            <a:ext cx="3435429" cy="372070"/>
          </a:xfrm>
          <a:prstGeom prst="rect">
            <a:avLst/>
          </a:prstGeom>
          <a:noFill/>
          <a:ln/>
        </p:spPr>
        <p:txBody>
          <a:bodyPr wrap="none" lIns="0" tIns="0" rIns="0" bIns="0" rtlCol="0" anchor="t"/>
          <a:lstStyle/>
          <a:p>
            <a:pPr marL="0" indent="0" algn="l">
              <a:lnSpc>
                <a:spcPts val="2900"/>
              </a:lnSpc>
              <a:buNone/>
            </a:pPr>
            <a:r>
              <a:rPr lang="en-US" sz="2300" dirty="0">
                <a:solidFill>
                  <a:srgbClr val="FFFFFF"/>
                </a:solidFill>
                <a:latin typeface="Libre Baskerville" pitchFamily="34" charset="0"/>
                <a:ea typeface="Libre Baskerville" pitchFamily="34" charset="-122"/>
                <a:cs typeface="Libre Baskerville" pitchFamily="34" charset="-120"/>
              </a:rPr>
              <a:t>The "Seasonality" Trap</a:t>
            </a:r>
            <a:endParaRPr lang="en-US" sz="2300" dirty="0"/>
          </a:p>
        </p:txBody>
      </p:sp>
      <p:sp>
        <p:nvSpPr>
          <p:cNvPr id="12" name="Text 10"/>
          <p:cNvSpPr/>
          <p:nvPr/>
        </p:nvSpPr>
        <p:spPr>
          <a:xfrm>
            <a:off x="9819561" y="3861673"/>
            <a:ext cx="3818573" cy="127015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Open Sans" pitchFamily="34" charset="0"/>
                <a:ea typeface="Open Sans" pitchFamily="34" charset="-122"/>
                <a:cs typeface="Open Sans" pitchFamily="34" charset="-120"/>
              </a:rPr>
              <a:t>Failure to predict the exact week of demand spikes (e.g., winter coats) causes a critical mismatch between supply and consumer demand.</a:t>
            </a:r>
            <a:endParaRPr lang="en-US" sz="1550" dirty="0"/>
          </a:p>
        </p:txBody>
      </p:sp>
      <p:sp>
        <p:nvSpPr>
          <p:cNvPr id="13" name="Text 11"/>
          <p:cNvSpPr/>
          <p:nvPr/>
        </p:nvSpPr>
        <p:spPr>
          <a:xfrm>
            <a:off x="793790" y="562784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403CCF"/>
                </a:solidFill>
                <a:latin typeface="Libre Baskerville" pitchFamily="34" charset="0"/>
                <a:ea typeface="Libre Baskerville" pitchFamily="34" charset="-122"/>
                <a:cs typeface="Libre Baskerville" pitchFamily="34" charset="-120"/>
              </a:rPr>
              <a:t>Objective:</a:t>
            </a:r>
            <a:endParaRPr lang="en-US" sz="2300" dirty="0"/>
          </a:p>
        </p:txBody>
      </p:sp>
      <p:sp>
        <p:nvSpPr>
          <p:cNvPr id="14" name="Text 12"/>
          <p:cNvSpPr/>
          <p:nvPr/>
        </p:nvSpPr>
        <p:spPr>
          <a:xfrm>
            <a:off x="793790" y="629757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Our primary goal is to leverage historical sales data to accurately predict weekly demand, thereby minimising waste and maximising profitability for fashion retailers.</a:t>
            </a:r>
            <a:endParaRPr lang="en-US" sz="1550" dirty="0"/>
          </a:p>
        </p:txBody>
      </p:sp>
      <p:pic>
        <p:nvPicPr>
          <p:cNvPr id="15" name="Picture 14">
            <a:extLst>
              <a:ext uri="{FF2B5EF4-FFF2-40B4-BE49-F238E27FC236}">
                <a16:creationId xmlns:a16="http://schemas.microsoft.com/office/drawing/2014/main" id="{8B189C2E-54CF-B567-1D71-3ABDA3273D59}"/>
              </a:ext>
            </a:extLst>
          </p:cNvPr>
          <p:cNvPicPr>
            <a:picLocks noChangeAspect="1"/>
          </p:cNvPicPr>
          <p:nvPr/>
        </p:nvPicPr>
        <p:blipFill>
          <a:blip r:embed="rId3"/>
          <a:stretch>
            <a:fillRect/>
          </a:stretch>
        </p:blipFill>
        <p:spPr>
          <a:xfrm>
            <a:off x="12902198" y="7786449"/>
            <a:ext cx="1728202" cy="3602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60095" y="523161"/>
            <a:ext cx="13110210" cy="1187529"/>
          </a:xfrm>
          <a:prstGeom prst="rect">
            <a:avLst/>
          </a:prstGeom>
          <a:noFill/>
          <a:ln/>
        </p:spPr>
        <p:txBody>
          <a:bodyPr wrap="square" lIns="0" tIns="0" rIns="0" bIns="0" rtlCol="0" anchor="t"/>
          <a:lstStyle/>
          <a:p>
            <a:pPr marL="0" indent="0" algn="l">
              <a:lnSpc>
                <a:spcPts val="4650"/>
              </a:lnSpc>
              <a:buNone/>
            </a:pPr>
            <a:r>
              <a:rPr lang="en-US" sz="3700" dirty="0">
                <a:solidFill>
                  <a:srgbClr val="403CCF"/>
                </a:solidFill>
                <a:latin typeface="Libre Baskerville" pitchFamily="34" charset="0"/>
                <a:ea typeface="Libre Baskerville" pitchFamily="34" charset="-122"/>
                <a:cs typeface="Libre Baskerville" pitchFamily="34" charset="-120"/>
              </a:rPr>
              <a:t>Data Architecture: From Raw Transactions to Clean Insights</a:t>
            </a:r>
            <a:endParaRPr lang="en-US" sz="3700" dirty="0"/>
          </a:p>
        </p:txBody>
      </p:sp>
      <p:sp>
        <p:nvSpPr>
          <p:cNvPr id="3" name="Text 1"/>
          <p:cNvSpPr/>
          <p:nvPr/>
        </p:nvSpPr>
        <p:spPr>
          <a:xfrm>
            <a:off x="760095" y="1786652"/>
            <a:ext cx="2850356" cy="356235"/>
          </a:xfrm>
          <a:prstGeom prst="rect">
            <a:avLst/>
          </a:prstGeom>
          <a:noFill/>
          <a:ln/>
        </p:spPr>
        <p:txBody>
          <a:bodyPr wrap="none" lIns="0" tIns="0" rIns="0" bIns="0" rtlCol="0" anchor="t"/>
          <a:lstStyle/>
          <a:p>
            <a:pPr marL="0" indent="0" algn="l">
              <a:lnSpc>
                <a:spcPts val="2800"/>
              </a:lnSpc>
              <a:buNone/>
            </a:pPr>
            <a:r>
              <a:rPr lang="en-US" sz="2200" dirty="0">
                <a:solidFill>
                  <a:srgbClr val="403CCF"/>
                </a:solidFill>
                <a:latin typeface="Libre Baskerville" pitchFamily="34" charset="0"/>
                <a:ea typeface="Libre Baskerville" pitchFamily="34" charset="-122"/>
                <a:cs typeface="Libre Baskerville" pitchFamily="34" charset="-120"/>
              </a:rPr>
              <a:t>Data Source:</a:t>
            </a:r>
            <a:endParaRPr lang="en-US" sz="2200" dirty="0"/>
          </a:p>
        </p:txBody>
      </p:sp>
      <p:sp>
        <p:nvSpPr>
          <p:cNvPr id="4" name="Text 2"/>
          <p:cNvSpPr/>
          <p:nvPr/>
        </p:nvSpPr>
        <p:spPr>
          <a:xfrm>
            <a:off x="760095" y="2427922"/>
            <a:ext cx="13110210" cy="607933"/>
          </a:xfrm>
          <a:prstGeom prst="rect">
            <a:avLst/>
          </a:prstGeom>
          <a:noFill/>
          <a:ln/>
        </p:spPr>
        <p:txBody>
          <a:bodyPr wrap="square" lIns="0" tIns="0" rIns="0" bIns="0" rtlCol="0" anchor="t"/>
          <a:lstStyle/>
          <a:p>
            <a:pPr marL="0" indent="0" algn="l">
              <a:lnSpc>
                <a:spcPts val="2350"/>
              </a:lnSpc>
              <a:buNone/>
            </a:pPr>
            <a:r>
              <a:rPr lang="en-US" sz="1450" dirty="0">
                <a:solidFill>
                  <a:srgbClr val="49495A"/>
                </a:solidFill>
                <a:latin typeface="Open Sans" pitchFamily="34" charset="0"/>
                <a:ea typeface="Open Sans" pitchFamily="34" charset="-122"/>
                <a:cs typeface="Open Sans" pitchFamily="34" charset="-120"/>
              </a:rPr>
              <a:t>We utilised the H&amp;M Personalized Fashion Recommendations dataset from Kaggle, comprising approximately 31 million transaction rows from 2018–2020. Key fields included </a:t>
            </a:r>
            <a:r>
              <a:rPr lang="en-US" sz="1450" dirty="0">
                <a:solidFill>
                  <a:srgbClr val="49495A"/>
                </a:solidFill>
                <a:highlight>
                  <a:srgbClr val="EEEDF2"/>
                </a:highlight>
                <a:latin typeface="Consolas" pitchFamily="34" charset="0"/>
                <a:ea typeface="Consolas" pitchFamily="34" charset="-122"/>
                <a:cs typeface="Consolas" pitchFamily="34" charset="-120"/>
              </a:rPr>
              <a:t>t_dat</a:t>
            </a:r>
            <a:r>
              <a:rPr lang="en-US" sz="1450" dirty="0">
                <a:solidFill>
                  <a:srgbClr val="49495A"/>
                </a:solidFill>
                <a:latin typeface="Open Sans" pitchFamily="34" charset="0"/>
                <a:ea typeface="Open Sans" pitchFamily="34" charset="-122"/>
                <a:cs typeface="Open Sans" pitchFamily="34" charset="-120"/>
              </a:rPr>
              <a:t> (Date), </a:t>
            </a:r>
            <a:r>
              <a:rPr lang="en-US" sz="1450" dirty="0">
                <a:solidFill>
                  <a:srgbClr val="49495A"/>
                </a:solidFill>
                <a:highlight>
                  <a:srgbClr val="EEEDF2"/>
                </a:highlight>
                <a:latin typeface="Consolas" pitchFamily="34" charset="0"/>
                <a:ea typeface="Consolas" pitchFamily="34" charset="-122"/>
                <a:cs typeface="Consolas" pitchFamily="34" charset="-120"/>
              </a:rPr>
              <a:t>article_id</a:t>
            </a:r>
            <a:r>
              <a:rPr lang="en-US" sz="1450" dirty="0">
                <a:solidFill>
                  <a:srgbClr val="49495A"/>
                </a:solidFill>
                <a:latin typeface="Open Sans" pitchFamily="34" charset="0"/>
                <a:ea typeface="Open Sans" pitchFamily="34" charset="-122"/>
                <a:cs typeface="Open Sans" pitchFamily="34" charset="-120"/>
              </a:rPr>
              <a:t> (Product), </a:t>
            </a:r>
            <a:r>
              <a:rPr lang="en-US" sz="1450" dirty="0">
                <a:solidFill>
                  <a:srgbClr val="49495A"/>
                </a:solidFill>
                <a:highlight>
                  <a:srgbClr val="EEEDF2"/>
                </a:highlight>
                <a:latin typeface="Consolas" pitchFamily="34" charset="0"/>
                <a:ea typeface="Consolas" pitchFamily="34" charset="-122"/>
                <a:cs typeface="Consolas" pitchFamily="34" charset="-120"/>
              </a:rPr>
              <a:t>sales_channel_id</a:t>
            </a:r>
            <a:r>
              <a:rPr lang="en-US" sz="1450" dirty="0">
                <a:solidFill>
                  <a:srgbClr val="49495A"/>
                </a:solidFill>
                <a:latin typeface="Open Sans" pitchFamily="34" charset="0"/>
                <a:ea typeface="Open Sans" pitchFamily="34" charset="-122"/>
                <a:cs typeface="Open Sans" pitchFamily="34" charset="-120"/>
              </a:rPr>
              <a:t>, and </a:t>
            </a:r>
            <a:r>
              <a:rPr lang="en-US" sz="1450" dirty="0">
                <a:solidFill>
                  <a:srgbClr val="49495A"/>
                </a:solidFill>
                <a:highlight>
                  <a:srgbClr val="EEEDF2"/>
                </a:highlight>
                <a:latin typeface="Consolas" pitchFamily="34" charset="0"/>
                <a:ea typeface="Consolas" pitchFamily="34" charset="-122"/>
                <a:cs typeface="Consolas" pitchFamily="34" charset="-120"/>
              </a:rPr>
              <a:t>price</a:t>
            </a:r>
            <a:r>
              <a:rPr lang="en-US" sz="1450" dirty="0">
                <a:solidFill>
                  <a:srgbClr val="49495A"/>
                </a:solidFill>
                <a:latin typeface="Open Sans" pitchFamily="34" charset="0"/>
                <a:ea typeface="Open Sans" pitchFamily="34" charset="-122"/>
                <a:cs typeface="Open Sans" pitchFamily="34" charset="-120"/>
              </a:rPr>
              <a:t>.</a:t>
            </a:r>
            <a:endParaRPr lang="en-US" sz="1450" dirty="0"/>
          </a:p>
        </p:txBody>
      </p:sp>
      <p:sp>
        <p:nvSpPr>
          <p:cNvPr id="5" name="Text 3"/>
          <p:cNvSpPr/>
          <p:nvPr/>
        </p:nvSpPr>
        <p:spPr>
          <a:xfrm>
            <a:off x="760095" y="3320891"/>
            <a:ext cx="3675459" cy="356235"/>
          </a:xfrm>
          <a:prstGeom prst="rect">
            <a:avLst/>
          </a:prstGeom>
          <a:noFill/>
          <a:ln/>
        </p:spPr>
        <p:txBody>
          <a:bodyPr wrap="none" lIns="0" tIns="0" rIns="0" bIns="0" rtlCol="0" anchor="t"/>
          <a:lstStyle/>
          <a:p>
            <a:pPr marL="0" indent="0" algn="l">
              <a:lnSpc>
                <a:spcPts val="2800"/>
              </a:lnSpc>
              <a:buNone/>
            </a:pPr>
            <a:r>
              <a:rPr lang="en-US" sz="2200" dirty="0">
                <a:solidFill>
                  <a:srgbClr val="403CCF"/>
                </a:solidFill>
                <a:latin typeface="Libre Baskerville" pitchFamily="34" charset="0"/>
                <a:ea typeface="Libre Baskerville" pitchFamily="34" charset="-122"/>
                <a:cs typeface="Libre Baskerville" pitchFamily="34" charset="-120"/>
              </a:rPr>
              <a:t>Raw Data Characteristics:</a:t>
            </a:r>
            <a:endParaRPr lang="en-US" sz="2200" dirty="0"/>
          </a:p>
        </p:txBody>
      </p:sp>
      <p:sp>
        <p:nvSpPr>
          <p:cNvPr id="6" name="Text 4"/>
          <p:cNvSpPr/>
          <p:nvPr/>
        </p:nvSpPr>
        <p:spPr>
          <a:xfrm>
            <a:off x="760095" y="3962162"/>
            <a:ext cx="13110210" cy="607933"/>
          </a:xfrm>
          <a:prstGeom prst="rect">
            <a:avLst/>
          </a:prstGeom>
          <a:noFill/>
          <a:ln/>
        </p:spPr>
        <p:txBody>
          <a:bodyPr wrap="square" lIns="0" tIns="0" rIns="0" bIns="0" rtlCol="0" anchor="t"/>
          <a:lstStyle/>
          <a:p>
            <a:pPr marL="0" indent="0" algn="l">
              <a:lnSpc>
                <a:spcPts val="2350"/>
              </a:lnSpc>
              <a:buNone/>
            </a:pPr>
            <a:r>
              <a:rPr lang="en-US" sz="1450" dirty="0">
                <a:solidFill>
                  <a:srgbClr val="49495A"/>
                </a:solidFill>
                <a:latin typeface="Open Sans" pitchFamily="34" charset="0"/>
                <a:ea typeface="Open Sans" pitchFamily="34" charset="-122"/>
                <a:cs typeface="Open Sans" pitchFamily="34" charset="-120"/>
              </a:rPr>
              <a:t>The raw data was highly granular (transaction-level) and contained noise, including B2B bulk purchases. Notably, around 10% of </a:t>
            </a:r>
            <a:r>
              <a:rPr lang="en-US" sz="1450" dirty="0">
                <a:solidFill>
                  <a:srgbClr val="49495A"/>
                </a:solidFill>
                <a:highlight>
                  <a:srgbClr val="EEEDF2"/>
                </a:highlight>
                <a:latin typeface="Consolas" pitchFamily="34" charset="0"/>
                <a:ea typeface="Consolas" pitchFamily="34" charset="-122"/>
                <a:cs typeface="Consolas" pitchFamily="34" charset="-120"/>
              </a:rPr>
              <a:t>product_description</a:t>
            </a:r>
            <a:r>
              <a:rPr lang="en-US" sz="1450" dirty="0">
                <a:solidFill>
                  <a:srgbClr val="49495A"/>
                </a:solidFill>
                <a:latin typeface="Open Sans" pitchFamily="34" charset="0"/>
                <a:ea typeface="Open Sans" pitchFamily="34" charset="-122"/>
                <a:cs typeface="Open Sans" pitchFamily="34" charset="-120"/>
              </a:rPr>
              <a:t> fields were null, requiring careful handling.</a:t>
            </a:r>
            <a:endParaRPr lang="en-US" sz="1450" dirty="0"/>
          </a:p>
        </p:txBody>
      </p:sp>
      <p:sp>
        <p:nvSpPr>
          <p:cNvPr id="7" name="Text 5"/>
          <p:cNvSpPr/>
          <p:nvPr/>
        </p:nvSpPr>
        <p:spPr>
          <a:xfrm>
            <a:off x="760095" y="4855131"/>
            <a:ext cx="5119449" cy="356235"/>
          </a:xfrm>
          <a:prstGeom prst="rect">
            <a:avLst/>
          </a:prstGeom>
          <a:noFill/>
          <a:ln/>
        </p:spPr>
        <p:txBody>
          <a:bodyPr wrap="none" lIns="0" tIns="0" rIns="0" bIns="0" rtlCol="0" anchor="t"/>
          <a:lstStyle/>
          <a:p>
            <a:pPr marL="0" indent="0" algn="l">
              <a:lnSpc>
                <a:spcPts val="2800"/>
              </a:lnSpc>
              <a:buNone/>
            </a:pPr>
            <a:r>
              <a:rPr lang="en-US" sz="2200" dirty="0">
                <a:solidFill>
                  <a:srgbClr val="403CCF"/>
                </a:solidFill>
                <a:latin typeface="Libre Baskerville" pitchFamily="34" charset="0"/>
                <a:ea typeface="Libre Baskerville" pitchFamily="34" charset="-122"/>
                <a:cs typeface="Libre Baskerville" pitchFamily="34" charset="-120"/>
              </a:rPr>
              <a:t>Cleaning &amp; Preprocessing Strategy:</a:t>
            </a:r>
            <a:endParaRPr lang="en-US" sz="2200" dirty="0"/>
          </a:p>
        </p:txBody>
      </p:sp>
      <p:sp>
        <p:nvSpPr>
          <p:cNvPr id="8" name="Text 6"/>
          <p:cNvSpPr/>
          <p:nvPr/>
        </p:nvSpPr>
        <p:spPr>
          <a:xfrm>
            <a:off x="760095" y="5496401"/>
            <a:ext cx="190024" cy="237530"/>
          </a:xfrm>
          <a:prstGeom prst="rect">
            <a:avLst/>
          </a:prstGeom>
          <a:noFill/>
          <a:ln/>
        </p:spPr>
        <p:txBody>
          <a:bodyPr wrap="none" lIns="0" tIns="0" rIns="0" bIns="0" rtlCol="0" anchor="t"/>
          <a:lstStyle/>
          <a:p>
            <a:pPr marL="0" indent="0" algn="l">
              <a:lnSpc>
                <a:spcPts val="2350"/>
              </a:lnSpc>
              <a:buNone/>
            </a:pPr>
            <a:r>
              <a:rPr lang="en-US" sz="1450" dirty="0">
                <a:solidFill>
                  <a:srgbClr val="49495A"/>
                </a:solidFill>
                <a:latin typeface="Libre Baskerville Light" pitchFamily="34" charset="0"/>
                <a:ea typeface="Libre Baskerville Light" pitchFamily="34" charset="-122"/>
                <a:cs typeface="Libre Baskerville Light" pitchFamily="34" charset="-120"/>
              </a:rPr>
              <a:t>01</a:t>
            </a:r>
            <a:endParaRPr lang="en-US" sz="1450" dirty="0"/>
          </a:p>
        </p:txBody>
      </p:sp>
      <p:pic>
        <p:nvPicPr>
          <p:cNvPr id="9" name="Image 0" descr="preencoded.png"/>
          <p:cNvPicPr>
            <a:picLocks noChangeAspect="1"/>
          </p:cNvPicPr>
          <p:nvPr/>
        </p:nvPicPr>
        <p:blipFill>
          <a:blip r:embed="rId3"/>
          <a:stretch>
            <a:fillRect/>
          </a:stretch>
        </p:blipFill>
        <p:spPr>
          <a:xfrm>
            <a:off x="760095" y="5796558"/>
            <a:ext cx="4243388" cy="22860"/>
          </a:xfrm>
          <a:prstGeom prst="rect">
            <a:avLst/>
          </a:prstGeom>
        </p:spPr>
      </p:pic>
      <p:sp>
        <p:nvSpPr>
          <p:cNvPr id="10" name="Text 7"/>
          <p:cNvSpPr/>
          <p:nvPr/>
        </p:nvSpPr>
        <p:spPr>
          <a:xfrm>
            <a:off x="760095" y="5937290"/>
            <a:ext cx="2375297" cy="296823"/>
          </a:xfrm>
          <a:prstGeom prst="rect">
            <a:avLst/>
          </a:prstGeom>
          <a:noFill/>
          <a:ln/>
        </p:spPr>
        <p:txBody>
          <a:bodyPr wrap="none" lIns="0" tIns="0" rIns="0" bIns="0" rtlCol="0" anchor="t"/>
          <a:lstStyle/>
          <a:p>
            <a:pPr marL="0" indent="0" algn="l">
              <a:lnSpc>
                <a:spcPts val="2300"/>
              </a:lnSpc>
              <a:buNone/>
            </a:pPr>
            <a:r>
              <a:rPr lang="en-US" sz="1850" dirty="0">
                <a:solidFill>
                  <a:srgbClr val="49495A"/>
                </a:solidFill>
                <a:latin typeface="Libre Baskerville" pitchFamily="34" charset="0"/>
                <a:ea typeface="Libre Baskerville" pitchFamily="34" charset="-122"/>
                <a:cs typeface="Libre Baskerville" pitchFamily="34" charset="-120"/>
              </a:rPr>
              <a:t>Imputation</a:t>
            </a:r>
            <a:endParaRPr lang="en-US" sz="1850" dirty="0"/>
          </a:p>
        </p:txBody>
      </p:sp>
      <p:sp>
        <p:nvSpPr>
          <p:cNvPr id="11" name="Text 8"/>
          <p:cNvSpPr/>
          <p:nvPr/>
        </p:nvSpPr>
        <p:spPr>
          <a:xfrm>
            <a:off x="760095" y="6348055"/>
            <a:ext cx="4243388" cy="911900"/>
          </a:xfrm>
          <a:prstGeom prst="rect">
            <a:avLst/>
          </a:prstGeom>
          <a:noFill/>
          <a:ln/>
        </p:spPr>
        <p:txBody>
          <a:bodyPr wrap="square" lIns="0" tIns="0" rIns="0" bIns="0" rtlCol="0" anchor="t"/>
          <a:lstStyle/>
          <a:p>
            <a:pPr marL="0" indent="0" algn="l">
              <a:lnSpc>
                <a:spcPts val="2350"/>
              </a:lnSpc>
              <a:buNone/>
            </a:pPr>
            <a:r>
              <a:rPr lang="en-US" sz="1450" dirty="0">
                <a:solidFill>
                  <a:srgbClr val="49495A"/>
                </a:solidFill>
                <a:latin typeface="Open Sans" pitchFamily="34" charset="0"/>
                <a:ea typeface="Open Sans" pitchFamily="34" charset="-122"/>
                <a:cs typeface="Open Sans" pitchFamily="34" charset="-120"/>
              </a:rPr>
              <a:t>Missing product descriptions were filled using the mode of their corresponding product group to maintain data integrity.</a:t>
            </a:r>
            <a:endParaRPr lang="en-US" sz="1450" dirty="0"/>
          </a:p>
        </p:txBody>
      </p:sp>
      <p:sp>
        <p:nvSpPr>
          <p:cNvPr id="12" name="Text 9"/>
          <p:cNvSpPr/>
          <p:nvPr/>
        </p:nvSpPr>
        <p:spPr>
          <a:xfrm>
            <a:off x="5193506" y="5496401"/>
            <a:ext cx="190024" cy="237530"/>
          </a:xfrm>
          <a:prstGeom prst="rect">
            <a:avLst/>
          </a:prstGeom>
          <a:noFill/>
          <a:ln/>
        </p:spPr>
        <p:txBody>
          <a:bodyPr wrap="none" lIns="0" tIns="0" rIns="0" bIns="0" rtlCol="0" anchor="t"/>
          <a:lstStyle/>
          <a:p>
            <a:pPr marL="0" indent="0" algn="l">
              <a:lnSpc>
                <a:spcPts val="2350"/>
              </a:lnSpc>
              <a:buNone/>
            </a:pPr>
            <a:r>
              <a:rPr lang="en-US" sz="1450" dirty="0">
                <a:solidFill>
                  <a:srgbClr val="49495A"/>
                </a:solidFill>
                <a:latin typeface="Libre Baskerville Light" pitchFamily="34" charset="0"/>
                <a:ea typeface="Libre Baskerville Light" pitchFamily="34" charset="-122"/>
                <a:cs typeface="Libre Baskerville Light" pitchFamily="34" charset="-120"/>
              </a:rPr>
              <a:t>02</a:t>
            </a:r>
            <a:endParaRPr lang="en-US" sz="1450" dirty="0"/>
          </a:p>
        </p:txBody>
      </p:sp>
      <p:pic>
        <p:nvPicPr>
          <p:cNvPr id="13" name="Image 1" descr="preencoded.png"/>
          <p:cNvPicPr>
            <a:picLocks noChangeAspect="1"/>
          </p:cNvPicPr>
          <p:nvPr/>
        </p:nvPicPr>
        <p:blipFill>
          <a:blip r:embed="rId3"/>
          <a:stretch>
            <a:fillRect/>
          </a:stretch>
        </p:blipFill>
        <p:spPr>
          <a:xfrm>
            <a:off x="5193506" y="5796558"/>
            <a:ext cx="4243388" cy="22860"/>
          </a:xfrm>
          <a:prstGeom prst="rect">
            <a:avLst/>
          </a:prstGeom>
        </p:spPr>
      </p:pic>
      <p:sp>
        <p:nvSpPr>
          <p:cNvPr id="14" name="Text 10"/>
          <p:cNvSpPr/>
          <p:nvPr/>
        </p:nvSpPr>
        <p:spPr>
          <a:xfrm>
            <a:off x="5193506" y="5937290"/>
            <a:ext cx="2375297" cy="296823"/>
          </a:xfrm>
          <a:prstGeom prst="rect">
            <a:avLst/>
          </a:prstGeom>
          <a:noFill/>
          <a:ln/>
        </p:spPr>
        <p:txBody>
          <a:bodyPr wrap="none" lIns="0" tIns="0" rIns="0" bIns="0" rtlCol="0" anchor="t"/>
          <a:lstStyle/>
          <a:p>
            <a:pPr marL="0" indent="0" algn="l">
              <a:lnSpc>
                <a:spcPts val="2300"/>
              </a:lnSpc>
              <a:buNone/>
            </a:pPr>
            <a:r>
              <a:rPr lang="en-US" sz="1850" dirty="0">
                <a:solidFill>
                  <a:srgbClr val="49495A"/>
                </a:solidFill>
                <a:latin typeface="Libre Baskerville" pitchFamily="34" charset="0"/>
                <a:ea typeface="Libre Baskerville" pitchFamily="34" charset="-122"/>
                <a:cs typeface="Libre Baskerville" pitchFamily="34" charset="-120"/>
              </a:rPr>
              <a:t>Aggregation</a:t>
            </a:r>
            <a:endParaRPr lang="en-US" sz="1850" dirty="0"/>
          </a:p>
        </p:txBody>
      </p:sp>
      <p:sp>
        <p:nvSpPr>
          <p:cNvPr id="15" name="Text 11"/>
          <p:cNvSpPr/>
          <p:nvPr/>
        </p:nvSpPr>
        <p:spPr>
          <a:xfrm>
            <a:off x="5193506" y="6348055"/>
            <a:ext cx="4243388" cy="1215866"/>
          </a:xfrm>
          <a:prstGeom prst="rect">
            <a:avLst/>
          </a:prstGeom>
          <a:noFill/>
          <a:ln/>
        </p:spPr>
        <p:txBody>
          <a:bodyPr wrap="square" lIns="0" tIns="0" rIns="0" bIns="0" rtlCol="0" anchor="t"/>
          <a:lstStyle/>
          <a:p>
            <a:pPr marL="0" indent="0" algn="l">
              <a:lnSpc>
                <a:spcPts val="2350"/>
              </a:lnSpc>
              <a:buNone/>
            </a:pPr>
            <a:r>
              <a:rPr lang="en-US" sz="1450" dirty="0">
                <a:solidFill>
                  <a:srgbClr val="49495A"/>
                </a:solidFill>
                <a:latin typeface="Open Sans" pitchFamily="34" charset="0"/>
                <a:ea typeface="Open Sans" pitchFamily="34" charset="-122"/>
                <a:cs typeface="Open Sans" pitchFamily="34" charset="-120"/>
              </a:rPr>
              <a:t>Daily transaction data was grouped into weekly sales figures. This step significantly reduced noise and provided a clearer view of underlying trends.</a:t>
            </a:r>
            <a:endParaRPr lang="en-US" sz="1450" dirty="0"/>
          </a:p>
        </p:txBody>
      </p:sp>
      <p:sp>
        <p:nvSpPr>
          <p:cNvPr id="16" name="Text 12"/>
          <p:cNvSpPr/>
          <p:nvPr/>
        </p:nvSpPr>
        <p:spPr>
          <a:xfrm>
            <a:off x="9626918" y="5496401"/>
            <a:ext cx="190024" cy="237530"/>
          </a:xfrm>
          <a:prstGeom prst="rect">
            <a:avLst/>
          </a:prstGeom>
          <a:noFill/>
          <a:ln/>
        </p:spPr>
        <p:txBody>
          <a:bodyPr wrap="none" lIns="0" tIns="0" rIns="0" bIns="0" rtlCol="0" anchor="t"/>
          <a:lstStyle/>
          <a:p>
            <a:pPr marL="0" indent="0" algn="l">
              <a:lnSpc>
                <a:spcPts val="2350"/>
              </a:lnSpc>
              <a:buNone/>
            </a:pPr>
            <a:r>
              <a:rPr lang="en-US" sz="1450" dirty="0">
                <a:solidFill>
                  <a:srgbClr val="49495A"/>
                </a:solidFill>
                <a:latin typeface="Libre Baskerville Light" pitchFamily="34" charset="0"/>
                <a:ea typeface="Libre Baskerville Light" pitchFamily="34" charset="-122"/>
                <a:cs typeface="Libre Baskerville Light" pitchFamily="34" charset="-120"/>
              </a:rPr>
              <a:t>03</a:t>
            </a:r>
            <a:endParaRPr lang="en-US" sz="1450" dirty="0"/>
          </a:p>
        </p:txBody>
      </p:sp>
      <p:pic>
        <p:nvPicPr>
          <p:cNvPr id="17" name="Image 2" descr="preencoded.png"/>
          <p:cNvPicPr>
            <a:picLocks noChangeAspect="1"/>
          </p:cNvPicPr>
          <p:nvPr/>
        </p:nvPicPr>
        <p:blipFill>
          <a:blip r:embed="rId3"/>
          <a:stretch>
            <a:fillRect/>
          </a:stretch>
        </p:blipFill>
        <p:spPr>
          <a:xfrm>
            <a:off x="9626918" y="5796558"/>
            <a:ext cx="4243388" cy="22860"/>
          </a:xfrm>
          <a:prstGeom prst="rect">
            <a:avLst/>
          </a:prstGeom>
        </p:spPr>
      </p:pic>
      <p:sp>
        <p:nvSpPr>
          <p:cNvPr id="18" name="Text 13"/>
          <p:cNvSpPr/>
          <p:nvPr/>
        </p:nvSpPr>
        <p:spPr>
          <a:xfrm>
            <a:off x="9626918" y="5937290"/>
            <a:ext cx="2375297" cy="296823"/>
          </a:xfrm>
          <a:prstGeom prst="rect">
            <a:avLst/>
          </a:prstGeom>
          <a:noFill/>
          <a:ln/>
        </p:spPr>
        <p:txBody>
          <a:bodyPr wrap="none" lIns="0" tIns="0" rIns="0" bIns="0" rtlCol="0" anchor="t"/>
          <a:lstStyle/>
          <a:p>
            <a:pPr marL="0" indent="0" algn="l">
              <a:lnSpc>
                <a:spcPts val="2300"/>
              </a:lnSpc>
              <a:buNone/>
            </a:pPr>
            <a:r>
              <a:rPr lang="en-US" sz="1850" dirty="0">
                <a:solidFill>
                  <a:srgbClr val="49495A"/>
                </a:solidFill>
                <a:latin typeface="Libre Baskerville" pitchFamily="34" charset="0"/>
                <a:ea typeface="Libre Baskerville" pitchFamily="34" charset="-122"/>
                <a:cs typeface="Libre Baskerville" pitchFamily="34" charset="-120"/>
              </a:rPr>
              <a:t>Filtering</a:t>
            </a:r>
            <a:endParaRPr lang="en-US" sz="1850" dirty="0"/>
          </a:p>
        </p:txBody>
      </p:sp>
      <p:sp>
        <p:nvSpPr>
          <p:cNvPr id="19" name="Text 14"/>
          <p:cNvSpPr/>
          <p:nvPr/>
        </p:nvSpPr>
        <p:spPr>
          <a:xfrm>
            <a:off x="9626918" y="6348055"/>
            <a:ext cx="4243388" cy="1215866"/>
          </a:xfrm>
          <a:prstGeom prst="rect">
            <a:avLst/>
          </a:prstGeom>
          <a:noFill/>
          <a:ln/>
        </p:spPr>
        <p:txBody>
          <a:bodyPr wrap="square" lIns="0" tIns="0" rIns="0" bIns="0" rtlCol="0" anchor="t"/>
          <a:lstStyle/>
          <a:p>
            <a:pPr marL="0" indent="0" algn="l">
              <a:lnSpc>
                <a:spcPts val="2350"/>
              </a:lnSpc>
              <a:buNone/>
            </a:pPr>
            <a:r>
              <a:rPr lang="en-US" sz="1450" dirty="0">
                <a:solidFill>
                  <a:srgbClr val="49495A"/>
                </a:solidFill>
                <a:latin typeface="Open Sans" pitchFamily="34" charset="0"/>
                <a:ea typeface="Open Sans" pitchFamily="34" charset="-122"/>
                <a:cs typeface="Open Sans" pitchFamily="34" charset="-120"/>
              </a:rPr>
              <a:t>Outliers, specifically bulk orders exceeding 50 units, were removed to ensure our analysis focused solely on typical consumer retail behaviour.</a:t>
            </a:r>
            <a:endParaRPr lang="en-US" sz="1450" dirty="0"/>
          </a:p>
        </p:txBody>
      </p:sp>
      <p:pic>
        <p:nvPicPr>
          <p:cNvPr id="20" name="Picture 19">
            <a:extLst>
              <a:ext uri="{FF2B5EF4-FFF2-40B4-BE49-F238E27FC236}">
                <a16:creationId xmlns:a16="http://schemas.microsoft.com/office/drawing/2014/main" id="{B6196089-35D2-5AD6-7B0E-8307A34EFF03}"/>
              </a:ext>
            </a:extLst>
          </p:cNvPr>
          <p:cNvPicPr>
            <a:picLocks noChangeAspect="1"/>
          </p:cNvPicPr>
          <p:nvPr/>
        </p:nvPicPr>
        <p:blipFill>
          <a:blip r:embed="rId4"/>
          <a:stretch>
            <a:fillRect/>
          </a:stretch>
        </p:blipFill>
        <p:spPr>
          <a:xfrm>
            <a:off x="12902198" y="7786449"/>
            <a:ext cx="1728202" cy="3602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312539" y="526970"/>
            <a:ext cx="7790259" cy="1057513"/>
          </a:xfrm>
          <a:prstGeom prst="rect">
            <a:avLst/>
          </a:prstGeom>
          <a:noFill/>
          <a:ln/>
        </p:spPr>
        <p:txBody>
          <a:bodyPr wrap="square" lIns="0" tIns="0" rIns="0" bIns="0" rtlCol="0" anchor="t"/>
          <a:lstStyle/>
          <a:p>
            <a:pPr marL="0" indent="0" algn="l">
              <a:lnSpc>
                <a:spcPts val="4150"/>
              </a:lnSpc>
              <a:buNone/>
            </a:pPr>
            <a:r>
              <a:rPr lang="en-US" sz="3300" dirty="0">
                <a:solidFill>
                  <a:srgbClr val="403CCF"/>
                </a:solidFill>
                <a:latin typeface="Libre Baskerville" pitchFamily="34" charset="0"/>
                <a:ea typeface="Libre Baskerville" pitchFamily="34" charset="-122"/>
                <a:cs typeface="Libre Baskerville" pitchFamily="34" charset="-120"/>
              </a:rPr>
              <a:t>Exploratory Insights: The "Heartbeat" of Fashion</a:t>
            </a:r>
            <a:endParaRPr lang="en-US" sz="3300" dirty="0"/>
          </a:p>
        </p:txBody>
      </p:sp>
      <p:sp>
        <p:nvSpPr>
          <p:cNvPr id="4" name="Text 1"/>
          <p:cNvSpPr/>
          <p:nvPr/>
        </p:nvSpPr>
        <p:spPr>
          <a:xfrm>
            <a:off x="6163270" y="1776532"/>
            <a:ext cx="7790259" cy="541258"/>
          </a:xfrm>
          <a:prstGeom prst="rect">
            <a:avLst/>
          </a:prstGeom>
          <a:noFill/>
          <a:ln/>
        </p:spPr>
        <p:txBody>
          <a:bodyPr wrap="square" lIns="0" tIns="0" rIns="0" bIns="0" rtlCol="0" anchor="t"/>
          <a:lstStyle/>
          <a:p>
            <a:pPr marL="0" indent="0" algn="l">
              <a:lnSpc>
                <a:spcPts val="2100"/>
              </a:lnSpc>
              <a:buNone/>
            </a:pPr>
            <a:r>
              <a:rPr lang="en-US" sz="1300" dirty="0">
                <a:solidFill>
                  <a:srgbClr val="49495A"/>
                </a:solidFill>
                <a:latin typeface="Open Sans" pitchFamily="34" charset="0"/>
                <a:ea typeface="Open Sans" pitchFamily="34" charset="-122"/>
                <a:cs typeface="Open Sans" pitchFamily="34" charset="-120"/>
              </a:rPr>
              <a:t>Our initial exploratory data analysis revealed a distinct cyclical pattern in fashion sales, akin to a "heartbeat" that repeats year after year.</a:t>
            </a:r>
            <a:endParaRPr lang="en-US" sz="1300" dirty="0"/>
          </a:p>
        </p:txBody>
      </p:sp>
      <p:sp>
        <p:nvSpPr>
          <p:cNvPr id="5" name="Shape 2"/>
          <p:cNvSpPr/>
          <p:nvPr/>
        </p:nvSpPr>
        <p:spPr>
          <a:xfrm>
            <a:off x="6163270" y="2508052"/>
            <a:ext cx="3810476" cy="2202656"/>
          </a:xfrm>
          <a:prstGeom prst="roundRect">
            <a:avLst>
              <a:gd name="adj" fmla="val 4982"/>
            </a:avLst>
          </a:prstGeom>
          <a:solidFill>
            <a:srgbClr val="FBFAFF"/>
          </a:solidFill>
          <a:ln w="22860">
            <a:solidFill>
              <a:srgbClr val="D0CED9"/>
            </a:solidFill>
            <a:prstDash val="solid"/>
          </a:ln>
        </p:spPr>
      </p:sp>
      <p:pic>
        <p:nvPicPr>
          <p:cNvPr id="6" name="Image 1" descr="preencoded.png"/>
          <p:cNvPicPr>
            <a:picLocks noChangeAspect="1"/>
          </p:cNvPicPr>
          <p:nvPr/>
        </p:nvPicPr>
        <p:blipFill>
          <a:blip r:embed="rId3"/>
          <a:stretch>
            <a:fillRect/>
          </a:stretch>
        </p:blipFill>
        <p:spPr>
          <a:xfrm>
            <a:off x="6140410" y="2508052"/>
            <a:ext cx="91440" cy="2202656"/>
          </a:xfrm>
          <a:prstGeom prst="rect">
            <a:avLst/>
          </a:prstGeom>
        </p:spPr>
      </p:pic>
      <p:sp>
        <p:nvSpPr>
          <p:cNvPr id="7" name="Text 3"/>
          <p:cNvSpPr/>
          <p:nvPr/>
        </p:nvSpPr>
        <p:spPr>
          <a:xfrm>
            <a:off x="6423898" y="2700099"/>
            <a:ext cx="3330416" cy="317302"/>
          </a:xfrm>
          <a:prstGeom prst="rect">
            <a:avLst/>
          </a:prstGeom>
          <a:noFill/>
          <a:ln/>
        </p:spPr>
        <p:txBody>
          <a:bodyPr wrap="none" lIns="0" tIns="0" rIns="0" bIns="0" rtlCol="0" anchor="t"/>
          <a:lstStyle/>
          <a:p>
            <a:pPr marL="0" indent="0" algn="l">
              <a:lnSpc>
                <a:spcPts val="2450"/>
              </a:lnSpc>
              <a:buNone/>
            </a:pPr>
            <a:r>
              <a:rPr lang="en-US" sz="1950" dirty="0">
                <a:solidFill>
                  <a:srgbClr val="49495A"/>
                </a:solidFill>
                <a:latin typeface="Libre Baskerville" pitchFamily="34" charset="0"/>
                <a:ea typeface="Libre Baskerville" pitchFamily="34" charset="-122"/>
                <a:cs typeface="Libre Baskerville" pitchFamily="34" charset="-120"/>
              </a:rPr>
              <a:t>Consistent Cyclical Trend</a:t>
            </a:r>
            <a:endParaRPr lang="en-US" sz="1950" dirty="0"/>
          </a:p>
        </p:txBody>
      </p:sp>
      <p:sp>
        <p:nvSpPr>
          <p:cNvPr id="8" name="Text 4"/>
          <p:cNvSpPr/>
          <p:nvPr/>
        </p:nvSpPr>
        <p:spPr>
          <a:xfrm>
            <a:off x="6423898" y="3118842"/>
            <a:ext cx="3357801" cy="811887"/>
          </a:xfrm>
          <a:prstGeom prst="rect">
            <a:avLst/>
          </a:prstGeom>
          <a:noFill/>
          <a:ln/>
        </p:spPr>
        <p:txBody>
          <a:bodyPr wrap="square" lIns="0" tIns="0" rIns="0" bIns="0" rtlCol="0" anchor="t"/>
          <a:lstStyle/>
          <a:p>
            <a:pPr marL="0" indent="0" algn="l">
              <a:lnSpc>
                <a:spcPts val="2100"/>
              </a:lnSpc>
              <a:buNone/>
            </a:pPr>
            <a:r>
              <a:rPr lang="en-US" sz="1300" dirty="0">
                <a:solidFill>
                  <a:srgbClr val="49495A"/>
                </a:solidFill>
                <a:latin typeface="Open Sans" pitchFamily="34" charset="0"/>
                <a:ea typeface="Open Sans" pitchFamily="34" charset="-122"/>
                <a:cs typeface="Open Sans" pitchFamily="34" charset="-120"/>
              </a:rPr>
              <a:t>Sales consistently follow a predictable pattern throughout the year, indicating strong seasonal influences.</a:t>
            </a:r>
            <a:endParaRPr lang="en-US" sz="1300" dirty="0"/>
          </a:p>
        </p:txBody>
      </p:sp>
      <p:sp>
        <p:nvSpPr>
          <p:cNvPr id="9" name="Shape 5"/>
          <p:cNvSpPr/>
          <p:nvPr/>
        </p:nvSpPr>
        <p:spPr>
          <a:xfrm>
            <a:off x="10142934" y="2508052"/>
            <a:ext cx="3810595" cy="2202656"/>
          </a:xfrm>
          <a:prstGeom prst="roundRect">
            <a:avLst>
              <a:gd name="adj" fmla="val 4982"/>
            </a:avLst>
          </a:prstGeom>
          <a:solidFill>
            <a:srgbClr val="FBFAFF"/>
          </a:solidFill>
          <a:ln w="22860">
            <a:solidFill>
              <a:srgbClr val="D0CED9"/>
            </a:solidFill>
            <a:prstDash val="solid"/>
          </a:ln>
        </p:spPr>
      </p:sp>
      <p:pic>
        <p:nvPicPr>
          <p:cNvPr id="10" name="Image 2" descr="preencoded.png"/>
          <p:cNvPicPr>
            <a:picLocks noChangeAspect="1"/>
          </p:cNvPicPr>
          <p:nvPr/>
        </p:nvPicPr>
        <p:blipFill>
          <a:blip r:embed="rId3"/>
          <a:stretch>
            <a:fillRect/>
          </a:stretch>
        </p:blipFill>
        <p:spPr>
          <a:xfrm>
            <a:off x="10120074" y="2508052"/>
            <a:ext cx="91440" cy="2202656"/>
          </a:xfrm>
          <a:prstGeom prst="rect">
            <a:avLst/>
          </a:prstGeom>
        </p:spPr>
      </p:pic>
      <p:sp>
        <p:nvSpPr>
          <p:cNvPr id="11" name="Text 6"/>
          <p:cNvSpPr/>
          <p:nvPr/>
        </p:nvSpPr>
        <p:spPr>
          <a:xfrm>
            <a:off x="10403562" y="2700099"/>
            <a:ext cx="3357920" cy="634603"/>
          </a:xfrm>
          <a:prstGeom prst="rect">
            <a:avLst/>
          </a:prstGeom>
          <a:noFill/>
          <a:ln/>
        </p:spPr>
        <p:txBody>
          <a:bodyPr wrap="square" lIns="0" tIns="0" rIns="0" bIns="0" rtlCol="0" anchor="t"/>
          <a:lstStyle/>
          <a:p>
            <a:pPr marL="0" indent="0" algn="l">
              <a:lnSpc>
                <a:spcPts val="2450"/>
              </a:lnSpc>
              <a:buNone/>
            </a:pPr>
            <a:r>
              <a:rPr lang="en-US" sz="1950" dirty="0">
                <a:solidFill>
                  <a:srgbClr val="49495A"/>
                </a:solidFill>
                <a:latin typeface="Libre Baskerville" pitchFamily="34" charset="0"/>
                <a:ea typeface="Libre Baskerville" pitchFamily="34" charset="-122"/>
                <a:cs typeface="Libre Baskerville" pitchFamily="34" charset="-120"/>
              </a:rPr>
              <a:t>The "Golden Quarter" Spike</a:t>
            </a:r>
            <a:endParaRPr lang="en-US" sz="1950" dirty="0"/>
          </a:p>
        </p:txBody>
      </p:sp>
      <p:sp>
        <p:nvSpPr>
          <p:cNvPr id="12" name="Text 7"/>
          <p:cNvSpPr/>
          <p:nvPr/>
        </p:nvSpPr>
        <p:spPr>
          <a:xfrm>
            <a:off x="10403562" y="3436144"/>
            <a:ext cx="3357920" cy="1082516"/>
          </a:xfrm>
          <a:prstGeom prst="rect">
            <a:avLst/>
          </a:prstGeom>
          <a:noFill/>
          <a:ln/>
        </p:spPr>
        <p:txBody>
          <a:bodyPr wrap="square" lIns="0" tIns="0" rIns="0" bIns="0" rtlCol="0" anchor="t"/>
          <a:lstStyle/>
          <a:p>
            <a:pPr marL="0" indent="0" algn="l">
              <a:lnSpc>
                <a:spcPts val="2100"/>
              </a:lnSpc>
              <a:buNone/>
            </a:pPr>
            <a:r>
              <a:rPr lang="en-US" sz="1300" dirty="0">
                <a:solidFill>
                  <a:srgbClr val="49495A"/>
                </a:solidFill>
                <a:latin typeface="Open Sans" pitchFamily="34" charset="0"/>
                <a:ea typeface="Open Sans" pitchFamily="34" charset="-122"/>
                <a:cs typeface="Open Sans" pitchFamily="34" charset="-120"/>
              </a:rPr>
              <a:t>We observed a sharp and significant 150% demand spike in Q4 (September-October), primarily driven by holiday shopping and festive seasons.</a:t>
            </a:r>
            <a:endParaRPr lang="en-US" sz="1300" dirty="0"/>
          </a:p>
        </p:txBody>
      </p:sp>
      <p:sp>
        <p:nvSpPr>
          <p:cNvPr id="13" name="Shape 8"/>
          <p:cNvSpPr/>
          <p:nvPr/>
        </p:nvSpPr>
        <p:spPr>
          <a:xfrm>
            <a:off x="6163270" y="4879896"/>
            <a:ext cx="3810476" cy="2155984"/>
          </a:xfrm>
          <a:prstGeom prst="roundRect">
            <a:avLst>
              <a:gd name="adj" fmla="val 5089"/>
            </a:avLst>
          </a:prstGeom>
          <a:solidFill>
            <a:srgbClr val="FBFAFF"/>
          </a:solidFill>
          <a:ln w="22860">
            <a:solidFill>
              <a:srgbClr val="D0CED9"/>
            </a:solidFill>
            <a:prstDash val="solid"/>
          </a:ln>
        </p:spPr>
      </p:sp>
      <p:pic>
        <p:nvPicPr>
          <p:cNvPr id="14" name="Image 3" descr="preencoded.png"/>
          <p:cNvPicPr>
            <a:picLocks noChangeAspect="1"/>
          </p:cNvPicPr>
          <p:nvPr/>
        </p:nvPicPr>
        <p:blipFill>
          <a:blip r:embed="rId4"/>
          <a:stretch>
            <a:fillRect/>
          </a:stretch>
        </p:blipFill>
        <p:spPr>
          <a:xfrm>
            <a:off x="6140410" y="4879896"/>
            <a:ext cx="91440" cy="2155984"/>
          </a:xfrm>
          <a:prstGeom prst="rect">
            <a:avLst/>
          </a:prstGeom>
        </p:spPr>
      </p:pic>
      <p:sp>
        <p:nvSpPr>
          <p:cNvPr id="15" name="Text 9"/>
          <p:cNvSpPr/>
          <p:nvPr/>
        </p:nvSpPr>
        <p:spPr>
          <a:xfrm>
            <a:off x="6423898" y="5071943"/>
            <a:ext cx="2696885" cy="317302"/>
          </a:xfrm>
          <a:prstGeom prst="rect">
            <a:avLst/>
          </a:prstGeom>
          <a:noFill/>
          <a:ln/>
        </p:spPr>
        <p:txBody>
          <a:bodyPr wrap="none" lIns="0" tIns="0" rIns="0" bIns="0" rtlCol="0" anchor="t"/>
          <a:lstStyle/>
          <a:p>
            <a:pPr marL="0" indent="0" algn="l">
              <a:lnSpc>
                <a:spcPts val="2450"/>
              </a:lnSpc>
              <a:buNone/>
            </a:pPr>
            <a:r>
              <a:rPr lang="en-US" sz="1950" dirty="0">
                <a:solidFill>
                  <a:srgbClr val="49495A"/>
                </a:solidFill>
                <a:latin typeface="Libre Baskerville" pitchFamily="34" charset="0"/>
                <a:ea typeface="Libre Baskerville" pitchFamily="34" charset="-122"/>
                <a:cs typeface="Libre Baskerville" pitchFamily="34" charset="-120"/>
              </a:rPr>
              <a:t>The “Oct Slump"</a:t>
            </a:r>
            <a:endParaRPr lang="en-US" sz="1950" dirty="0"/>
          </a:p>
        </p:txBody>
      </p:sp>
      <p:sp>
        <p:nvSpPr>
          <p:cNvPr id="16" name="Text 10"/>
          <p:cNvSpPr/>
          <p:nvPr/>
        </p:nvSpPr>
        <p:spPr>
          <a:xfrm>
            <a:off x="6423898" y="5490686"/>
            <a:ext cx="3357801" cy="1353145"/>
          </a:xfrm>
          <a:prstGeom prst="rect">
            <a:avLst/>
          </a:prstGeom>
          <a:noFill/>
          <a:ln/>
        </p:spPr>
        <p:txBody>
          <a:bodyPr wrap="square" lIns="0" tIns="0" rIns="0" bIns="0" rtlCol="0" anchor="t"/>
          <a:lstStyle/>
          <a:p>
            <a:pPr marL="0" indent="0" algn="l">
              <a:lnSpc>
                <a:spcPts val="2100"/>
              </a:lnSpc>
              <a:buNone/>
            </a:pPr>
            <a:r>
              <a:rPr lang="en-US" sz="1300" dirty="0">
                <a:solidFill>
                  <a:srgbClr val="49495A"/>
                </a:solidFill>
                <a:latin typeface="Open Sans" pitchFamily="34" charset="0"/>
                <a:ea typeface="Open Sans" pitchFamily="34" charset="-122"/>
                <a:cs typeface="Open Sans" pitchFamily="34" charset="-120"/>
              </a:rPr>
              <a:t>Conversely, there is a consistent and predictable drop in sales immediately following the New Year, presenting a critical window for inventory clearance strategies.</a:t>
            </a:r>
            <a:endParaRPr lang="en-US" sz="1300" dirty="0"/>
          </a:p>
        </p:txBody>
      </p:sp>
      <p:sp>
        <p:nvSpPr>
          <p:cNvPr id="17" name="Text 11"/>
          <p:cNvSpPr/>
          <p:nvPr/>
        </p:nvSpPr>
        <p:spPr>
          <a:xfrm>
            <a:off x="6163270" y="7226141"/>
            <a:ext cx="7790259" cy="541258"/>
          </a:xfrm>
          <a:prstGeom prst="rect">
            <a:avLst/>
          </a:prstGeom>
          <a:noFill/>
          <a:ln/>
        </p:spPr>
        <p:txBody>
          <a:bodyPr wrap="square" lIns="0" tIns="0" rIns="0" bIns="0" rtlCol="0" anchor="t"/>
          <a:lstStyle/>
          <a:p>
            <a:pPr marL="0" indent="0" algn="l">
              <a:lnSpc>
                <a:spcPts val="2100"/>
              </a:lnSpc>
              <a:buNone/>
            </a:pPr>
            <a:r>
              <a:rPr lang="en-US" sz="1300" dirty="0">
                <a:solidFill>
                  <a:srgbClr val="49495A"/>
                </a:solidFill>
                <a:latin typeface="Open Sans" pitchFamily="34" charset="0"/>
                <a:ea typeface="Open Sans" pitchFamily="34" charset="-122"/>
                <a:cs typeface="Open Sans" pitchFamily="34" charset="-120"/>
              </a:rPr>
              <a:t>Understanding this "heartbeat" is crucial for anticipating demand fluctuations and optimising inventory management to align with consumer purchasing cycles.</a:t>
            </a:r>
            <a:endParaRPr lang="en-US" sz="1300" dirty="0"/>
          </a:p>
        </p:txBody>
      </p:sp>
      <p:pic>
        <p:nvPicPr>
          <p:cNvPr id="19" name="Picture 18">
            <a:extLst>
              <a:ext uri="{FF2B5EF4-FFF2-40B4-BE49-F238E27FC236}">
                <a16:creationId xmlns:a16="http://schemas.microsoft.com/office/drawing/2014/main" id="{F229D08C-7031-94B0-0C23-72B54185DC0D}"/>
              </a:ext>
            </a:extLst>
          </p:cNvPr>
          <p:cNvPicPr>
            <a:picLocks noChangeAspect="1"/>
          </p:cNvPicPr>
          <p:nvPr/>
        </p:nvPicPr>
        <p:blipFill>
          <a:blip r:embed="rId5"/>
          <a:stretch>
            <a:fillRect/>
          </a:stretch>
        </p:blipFill>
        <p:spPr>
          <a:xfrm>
            <a:off x="0" y="2232655"/>
            <a:ext cx="6067246" cy="4572009"/>
          </a:xfrm>
          <a:prstGeom prst="rect">
            <a:avLst/>
          </a:prstGeom>
        </p:spPr>
      </p:pic>
      <p:pic>
        <p:nvPicPr>
          <p:cNvPr id="20" name="Picture 19">
            <a:extLst>
              <a:ext uri="{FF2B5EF4-FFF2-40B4-BE49-F238E27FC236}">
                <a16:creationId xmlns:a16="http://schemas.microsoft.com/office/drawing/2014/main" id="{B7B9C12C-D0E2-320C-E046-F063DDACA15E}"/>
              </a:ext>
            </a:extLst>
          </p:cNvPr>
          <p:cNvPicPr>
            <a:picLocks noChangeAspect="1"/>
          </p:cNvPicPr>
          <p:nvPr/>
        </p:nvPicPr>
        <p:blipFill>
          <a:blip r:embed="rId6"/>
          <a:stretch>
            <a:fillRect/>
          </a:stretch>
        </p:blipFill>
        <p:spPr>
          <a:xfrm>
            <a:off x="12902198" y="7786449"/>
            <a:ext cx="1728202" cy="3602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584" y="240180"/>
            <a:ext cx="12456557" cy="620078"/>
          </a:xfrm>
          <a:prstGeom prst="rect">
            <a:avLst/>
          </a:prstGeom>
          <a:noFill/>
          <a:ln/>
        </p:spPr>
        <p:txBody>
          <a:bodyPr wrap="none" lIns="0" tIns="0" rIns="0" bIns="0" rtlCol="0" anchor="t"/>
          <a:lstStyle/>
          <a:p>
            <a:pPr marL="0" indent="0" algn="l">
              <a:lnSpc>
                <a:spcPts val="4850"/>
              </a:lnSpc>
              <a:buNone/>
            </a:pPr>
            <a:r>
              <a:rPr lang="en-US" sz="3900" dirty="0">
                <a:solidFill>
                  <a:srgbClr val="403CCF"/>
                </a:solidFill>
                <a:latin typeface="Libre Baskerville" pitchFamily="34" charset="0"/>
                <a:ea typeface="Libre Baskerville" pitchFamily="34" charset="-122"/>
                <a:cs typeface="Libre Baskerville" pitchFamily="34" charset="-120"/>
              </a:rPr>
              <a:t>Exploratory Insights: Material Sensitivity in Sales</a:t>
            </a:r>
            <a:endParaRPr lang="en-US" sz="3900" dirty="0"/>
          </a:p>
        </p:txBody>
      </p:sp>
      <p:sp>
        <p:nvSpPr>
          <p:cNvPr id="3" name="Text 1"/>
          <p:cNvSpPr/>
          <p:nvPr/>
        </p:nvSpPr>
        <p:spPr>
          <a:xfrm>
            <a:off x="707663" y="1069679"/>
            <a:ext cx="7683244" cy="635079"/>
          </a:xfrm>
          <a:prstGeom prst="rect">
            <a:avLst/>
          </a:prstGeom>
          <a:noFill/>
          <a:ln/>
        </p:spPr>
        <p:txBody>
          <a:bodyPr wrap="square" lIns="0" tIns="0" rIns="0" bIns="0" rtlCol="0" anchor="t"/>
          <a:lstStyle/>
          <a:p>
            <a:pPr marL="0" indent="0" algn="l">
              <a:lnSpc>
                <a:spcPts val="2500"/>
              </a:lnSpc>
              <a:buNone/>
            </a:pPr>
            <a:r>
              <a:rPr lang="en-US" sz="1400" dirty="0">
                <a:solidFill>
                  <a:srgbClr val="49495A"/>
                </a:solidFill>
                <a:latin typeface="Open Sans" pitchFamily="34" charset="0"/>
                <a:ea typeface="Open Sans" pitchFamily="34" charset="-122"/>
                <a:cs typeface="Open Sans" pitchFamily="34" charset="-120"/>
              </a:rPr>
              <a:t>A surprising discovery from our analysis was the varying sensitivity of different product categories to seasonal changes. Not all categories behave uniformly throughout the year.</a:t>
            </a:r>
            <a:endParaRPr lang="en-US" sz="1400" dirty="0"/>
          </a:p>
        </p:txBody>
      </p:sp>
      <p:sp>
        <p:nvSpPr>
          <p:cNvPr id="4" name="Text 2"/>
          <p:cNvSpPr/>
          <p:nvPr/>
        </p:nvSpPr>
        <p:spPr>
          <a:xfrm>
            <a:off x="738824" y="2069288"/>
            <a:ext cx="4130159" cy="372070"/>
          </a:xfrm>
          <a:prstGeom prst="rect">
            <a:avLst/>
          </a:prstGeom>
          <a:noFill/>
          <a:ln/>
        </p:spPr>
        <p:txBody>
          <a:bodyPr wrap="none" lIns="0" tIns="0" rIns="0" bIns="0" rtlCol="0" anchor="t"/>
          <a:lstStyle/>
          <a:p>
            <a:pPr marL="0" indent="0" algn="l">
              <a:lnSpc>
                <a:spcPts val="2900"/>
              </a:lnSpc>
              <a:buNone/>
            </a:pPr>
            <a:r>
              <a:rPr lang="en-US" sz="2300" dirty="0">
                <a:solidFill>
                  <a:srgbClr val="403CCF"/>
                </a:solidFill>
                <a:latin typeface="Libre Baskerville" pitchFamily="34" charset="0"/>
                <a:ea typeface="Libre Baskerville" pitchFamily="34" charset="-122"/>
                <a:cs typeface="Libre Baskerville" pitchFamily="34" charset="-120"/>
              </a:rPr>
              <a:t>High Sensitivity Categories</a:t>
            </a:r>
            <a:endParaRPr lang="en-US" sz="2300" dirty="0"/>
          </a:p>
        </p:txBody>
      </p:sp>
      <p:sp>
        <p:nvSpPr>
          <p:cNvPr id="5" name="Text 3"/>
          <p:cNvSpPr/>
          <p:nvPr/>
        </p:nvSpPr>
        <p:spPr>
          <a:xfrm>
            <a:off x="738824" y="2504328"/>
            <a:ext cx="5873272" cy="1270159"/>
          </a:xfrm>
          <a:prstGeom prst="rect">
            <a:avLst/>
          </a:prstGeom>
          <a:noFill/>
          <a:ln/>
        </p:spPr>
        <p:txBody>
          <a:bodyPr wrap="square" lIns="0" tIns="0" rIns="0" bIns="0" rtlCol="0" anchor="t"/>
          <a:lstStyle/>
          <a:p>
            <a:pPr marL="0" indent="0" algn="l">
              <a:lnSpc>
                <a:spcPts val="2500"/>
              </a:lnSpc>
              <a:buNone/>
            </a:pPr>
            <a:r>
              <a:rPr lang="en-US" sz="1600" dirty="0">
                <a:solidFill>
                  <a:srgbClr val="49495A"/>
                </a:solidFill>
                <a:latin typeface="Open Sans" pitchFamily="34" charset="0"/>
                <a:ea typeface="Open Sans" pitchFamily="34" charset="-122"/>
                <a:cs typeface="Open Sans" pitchFamily="34" charset="-120"/>
              </a:rPr>
              <a:t>Products like "Knitwear" and "Outerwear" exhibit extreme volatility. They experience massive spikes in demand during winter months but show near-zero sales during summer. This highlights their strong dependence on specific seasonal conditions.</a:t>
            </a:r>
            <a:endParaRPr lang="en-US" sz="1600" dirty="0"/>
          </a:p>
        </p:txBody>
      </p:sp>
      <p:sp>
        <p:nvSpPr>
          <p:cNvPr id="6" name="Text 4"/>
          <p:cNvSpPr/>
          <p:nvPr/>
        </p:nvSpPr>
        <p:spPr>
          <a:xfrm>
            <a:off x="738824" y="4147225"/>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9495A"/>
                </a:solidFill>
                <a:latin typeface="Open Sans" pitchFamily="34" charset="0"/>
                <a:ea typeface="Open Sans" pitchFamily="34" charset="-122"/>
                <a:cs typeface="Open Sans" pitchFamily="34" charset="-120"/>
              </a:rPr>
              <a:t>Knitwear</a:t>
            </a:r>
            <a:endParaRPr lang="en-US" sz="1550" dirty="0"/>
          </a:p>
        </p:txBody>
      </p:sp>
      <p:sp>
        <p:nvSpPr>
          <p:cNvPr id="7" name="Text 5"/>
          <p:cNvSpPr/>
          <p:nvPr/>
        </p:nvSpPr>
        <p:spPr>
          <a:xfrm>
            <a:off x="2229943" y="414371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9495A"/>
                </a:solidFill>
                <a:latin typeface="Open Sans" pitchFamily="34" charset="0"/>
                <a:ea typeface="Open Sans" pitchFamily="34" charset="-122"/>
                <a:cs typeface="Open Sans" pitchFamily="34" charset="-120"/>
              </a:rPr>
              <a:t>Outerwear</a:t>
            </a:r>
            <a:endParaRPr lang="en-US" sz="1550" dirty="0"/>
          </a:p>
        </p:txBody>
      </p:sp>
      <p:sp>
        <p:nvSpPr>
          <p:cNvPr id="8" name="Text 6"/>
          <p:cNvSpPr/>
          <p:nvPr/>
        </p:nvSpPr>
        <p:spPr>
          <a:xfrm>
            <a:off x="738824" y="4588845"/>
            <a:ext cx="4020622" cy="372070"/>
          </a:xfrm>
          <a:prstGeom prst="rect">
            <a:avLst/>
          </a:prstGeom>
          <a:noFill/>
          <a:ln/>
        </p:spPr>
        <p:txBody>
          <a:bodyPr wrap="none" lIns="0" tIns="0" rIns="0" bIns="0" rtlCol="0" anchor="t"/>
          <a:lstStyle/>
          <a:p>
            <a:pPr marL="0" indent="0" algn="l">
              <a:lnSpc>
                <a:spcPts val="2900"/>
              </a:lnSpc>
              <a:buNone/>
            </a:pPr>
            <a:r>
              <a:rPr lang="en-US" sz="2300" dirty="0">
                <a:solidFill>
                  <a:srgbClr val="403CCF"/>
                </a:solidFill>
                <a:latin typeface="Libre Baskerville" pitchFamily="34" charset="0"/>
                <a:ea typeface="Libre Baskerville" pitchFamily="34" charset="-122"/>
                <a:cs typeface="Libre Baskerville" pitchFamily="34" charset="-120"/>
              </a:rPr>
              <a:t>Low Sensitivity Categories</a:t>
            </a:r>
            <a:endParaRPr lang="en-US" sz="2300" dirty="0"/>
          </a:p>
        </p:txBody>
      </p:sp>
      <p:sp>
        <p:nvSpPr>
          <p:cNvPr id="9" name="Text 7"/>
          <p:cNvSpPr/>
          <p:nvPr/>
        </p:nvSpPr>
        <p:spPr>
          <a:xfrm>
            <a:off x="707663" y="5067484"/>
            <a:ext cx="6029277" cy="952619"/>
          </a:xfrm>
          <a:prstGeom prst="rect">
            <a:avLst/>
          </a:prstGeom>
          <a:noFill/>
          <a:ln/>
        </p:spPr>
        <p:txBody>
          <a:bodyPr wrap="square" lIns="0" tIns="0" rIns="0" bIns="0" rtlCol="0" anchor="t"/>
          <a:lstStyle/>
          <a:p>
            <a:pPr marL="0" indent="0" algn="l">
              <a:lnSpc>
                <a:spcPts val="2500"/>
              </a:lnSpc>
              <a:buNone/>
            </a:pPr>
            <a:r>
              <a:rPr lang="en-US" sz="1600" dirty="0">
                <a:solidFill>
                  <a:srgbClr val="49495A"/>
                </a:solidFill>
                <a:latin typeface="Open Sans" pitchFamily="34" charset="0"/>
                <a:ea typeface="Open Sans" pitchFamily="34" charset="-122"/>
                <a:cs typeface="Open Sans" pitchFamily="34" charset="-120"/>
              </a:rPr>
              <a:t>In contrast, categories such as "Denim" and "Basics" maintain stable sales volumes year-round. Their demand is less affected by seasonal shifts, making them staple items for inventory planning.</a:t>
            </a:r>
            <a:endParaRPr lang="en-US" sz="1600" dirty="0"/>
          </a:p>
        </p:txBody>
      </p:sp>
      <p:sp>
        <p:nvSpPr>
          <p:cNvPr id="10" name="Text 8"/>
          <p:cNvSpPr/>
          <p:nvPr/>
        </p:nvSpPr>
        <p:spPr>
          <a:xfrm>
            <a:off x="1979215" y="646523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9495A"/>
                </a:solidFill>
                <a:latin typeface="Open Sans" pitchFamily="34" charset="0"/>
                <a:ea typeface="Open Sans" pitchFamily="34" charset="-122"/>
                <a:cs typeface="Open Sans" pitchFamily="34" charset="-120"/>
              </a:rPr>
              <a:t>Denim</a:t>
            </a:r>
            <a:endParaRPr lang="en-US" sz="1550" dirty="0"/>
          </a:p>
        </p:txBody>
      </p:sp>
      <p:sp>
        <p:nvSpPr>
          <p:cNvPr id="11" name="Text 9"/>
          <p:cNvSpPr/>
          <p:nvPr/>
        </p:nvSpPr>
        <p:spPr>
          <a:xfrm>
            <a:off x="706370" y="646523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9495A"/>
                </a:solidFill>
                <a:latin typeface="Open Sans" pitchFamily="34" charset="0"/>
                <a:ea typeface="Open Sans" pitchFamily="34" charset="-122"/>
                <a:cs typeface="Open Sans" pitchFamily="34" charset="-120"/>
              </a:rPr>
              <a:t>Basics</a:t>
            </a:r>
            <a:endParaRPr lang="en-US" sz="1550" dirty="0"/>
          </a:p>
        </p:txBody>
      </p:sp>
      <p:sp>
        <p:nvSpPr>
          <p:cNvPr id="12" name="Text 10"/>
          <p:cNvSpPr/>
          <p:nvPr/>
        </p:nvSpPr>
        <p:spPr>
          <a:xfrm>
            <a:off x="713100" y="708547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This insight leads to a critical conclusion: a "one-size-fits-all" forecasting model would be ineffective. We need to develop separate features and potentially distinct forecasting approaches for highly seasonal items versus stable, year-round staples to accurately predict demand.</a:t>
            </a:r>
            <a:endParaRPr lang="en-US" sz="1550" dirty="0"/>
          </a:p>
        </p:txBody>
      </p:sp>
      <p:pic>
        <p:nvPicPr>
          <p:cNvPr id="16" name="Picture 15">
            <a:extLst>
              <a:ext uri="{FF2B5EF4-FFF2-40B4-BE49-F238E27FC236}">
                <a16:creationId xmlns:a16="http://schemas.microsoft.com/office/drawing/2014/main" id="{E615FADB-91A9-861C-76A8-090A241934C5}"/>
              </a:ext>
            </a:extLst>
          </p:cNvPr>
          <p:cNvPicPr>
            <a:picLocks noChangeAspect="1"/>
          </p:cNvPicPr>
          <p:nvPr/>
        </p:nvPicPr>
        <p:blipFill>
          <a:blip r:embed="rId3"/>
          <a:stretch>
            <a:fillRect/>
          </a:stretch>
        </p:blipFill>
        <p:spPr>
          <a:xfrm>
            <a:off x="7234511" y="1910745"/>
            <a:ext cx="7315215" cy="4572009"/>
          </a:xfrm>
          <a:prstGeom prst="rect">
            <a:avLst/>
          </a:prstGeom>
        </p:spPr>
      </p:pic>
      <p:pic>
        <p:nvPicPr>
          <p:cNvPr id="17" name="Picture 16">
            <a:extLst>
              <a:ext uri="{FF2B5EF4-FFF2-40B4-BE49-F238E27FC236}">
                <a16:creationId xmlns:a16="http://schemas.microsoft.com/office/drawing/2014/main" id="{A3D3BBE0-4D8C-1EF6-62E4-DE8C8B2896BD}"/>
              </a:ext>
            </a:extLst>
          </p:cNvPr>
          <p:cNvPicPr>
            <a:picLocks noChangeAspect="1"/>
          </p:cNvPicPr>
          <p:nvPr/>
        </p:nvPicPr>
        <p:blipFill>
          <a:blip r:embed="rId4"/>
          <a:stretch>
            <a:fillRect/>
          </a:stretch>
        </p:blipFill>
        <p:spPr>
          <a:xfrm>
            <a:off x="12902198" y="7786449"/>
            <a:ext cx="1728202" cy="3602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4384" y="539234"/>
            <a:ext cx="13061633" cy="1225629"/>
          </a:xfrm>
          <a:prstGeom prst="rect">
            <a:avLst/>
          </a:prstGeom>
          <a:noFill/>
          <a:ln/>
        </p:spPr>
        <p:txBody>
          <a:bodyPr wrap="square" lIns="0" tIns="0" rIns="0" bIns="0" rtlCol="0" anchor="t"/>
          <a:lstStyle/>
          <a:p>
            <a:pPr marL="0" indent="0" algn="l">
              <a:lnSpc>
                <a:spcPts val="4800"/>
              </a:lnSpc>
              <a:buNone/>
            </a:pPr>
            <a:r>
              <a:rPr lang="en-US" sz="3850" dirty="0">
                <a:solidFill>
                  <a:srgbClr val="403CCF"/>
                </a:solidFill>
                <a:latin typeface="Libre Baskerville" pitchFamily="34" charset="0"/>
                <a:ea typeface="Libre Baskerville" pitchFamily="34" charset="-122"/>
                <a:cs typeface="Libre Baskerville" pitchFamily="34" charset="-120"/>
              </a:rPr>
              <a:t>Feature Engineering Strategy: Enhancing Predictive Power</a:t>
            </a:r>
            <a:endParaRPr lang="en-US" sz="3850" dirty="0"/>
          </a:p>
        </p:txBody>
      </p:sp>
      <p:sp>
        <p:nvSpPr>
          <p:cNvPr id="3" name="Text 1"/>
          <p:cNvSpPr/>
          <p:nvPr/>
        </p:nvSpPr>
        <p:spPr>
          <a:xfrm>
            <a:off x="784384" y="2157055"/>
            <a:ext cx="13061633" cy="627459"/>
          </a:xfrm>
          <a:prstGeom prst="rect">
            <a:avLst/>
          </a:prstGeom>
          <a:noFill/>
          <a:ln/>
        </p:spPr>
        <p:txBody>
          <a:bodyPr wrap="squar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To improve the accuracy of our demand forecasting model, we engineered several new features from the raw data. These features are designed to capture critical seasonal patterns, recent sales performance, and product-specific characteristics that influence demand.</a:t>
            </a:r>
            <a:endParaRPr lang="en-US" sz="1500" dirty="0"/>
          </a:p>
        </p:txBody>
      </p:sp>
      <p:sp>
        <p:nvSpPr>
          <p:cNvPr id="4" name="Shape 2"/>
          <p:cNvSpPr/>
          <p:nvPr/>
        </p:nvSpPr>
        <p:spPr>
          <a:xfrm>
            <a:off x="784384" y="3005138"/>
            <a:ext cx="13061633" cy="3840837"/>
          </a:xfrm>
          <a:prstGeom prst="roundRect">
            <a:avLst>
              <a:gd name="adj" fmla="val 766"/>
            </a:avLst>
          </a:prstGeom>
          <a:noFill/>
          <a:ln w="7620">
            <a:solidFill>
              <a:srgbClr val="000000">
                <a:alpha val="8000"/>
              </a:srgbClr>
            </a:solidFill>
            <a:prstDash val="solid"/>
          </a:ln>
        </p:spPr>
      </p:sp>
      <p:sp>
        <p:nvSpPr>
          <p:cNvPr id="5" name="Shape 3"/>
          <p:cNvSpPr/>
          <p:nvPr/>
        </p:nvSpPr>
        <p:spPr>
          <a:xfrm>
            <a:off x="792004" y="3012758"/>
            <a:ext cx="13046393" cy="877967"/>
          </a:xfrm>
          <a:prstGeom prst="rect">
            <a:avLst/>
          </a:prstGeom>
          <a:solidFill>
            <a:srgbClr val="FFFFFF">
              <a:alpha val="4000"/>
            </a:srgbClr>
          </a:solidFill>
          <a:ln/>
        </p:spPr>
      </p:sp>
      <p:sp>
        <p:nvSpPr>
          <p:cNvPr id="6" name="Text 4"/>
          <p:cNvSpPr/>
          <p:nvPr/>
        </p:nvSpPr>
        <p:spPr>
          <a:xfrm>
            <a:off x="988219" y="3138011"/>
            <a:ext cx="2865596" cy="313730"/>
          </a:xfrm>
          <a:prstGeom prst="rect">
            <a:avLst/>
          </a:prstGeom>
          <a:noFill/>
          <a:ln/>
        </p:spPr>
        <p:txBody>
          <a:bodyPr wrap="non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Transaction Date</a:t>
            </a:r>
            <a:endParaRPr lang="en-US" sz="1500" dirty="0"/>
          </a:p>
        </p:txBody>
      </p:sp>
      <p:sp>
        <p:nvSpPr>
          <p:cNvPr id="7" name="Text 5"/>
          <p:cNvSpPr/>
          <p:nvPr/>
        </p:nvSpPr>
        <p:spPr>
          <a:xfrm>
            <a:off x="4253627" y="3138011"/>
            <a:ext cx="4818698" cy="313730"/>
          </a:xfrm>
          <a:prstGeom prst="rect">
            <a:avLst/>
          </a:prstGeom>
          <a:noFill/>
          <a:ln/>
        </p:spPr>
        <p:txBody>
          <a:bodyPr wrap="non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Month_of_Year</a:t>
            </a:r>
            <a:endParaRPr lang="en-US" sz="1500" dirty="0"/>
          </a:p>
        </p:txBody>
      </p:sp>
      <p:sp>
        <p:nvSpPr>
          <p:cNvPr id="8" name="Text 6"/>
          <p:cNvSpPr/>
          <p:nvPr/>
        </p:nvSpPr>
        <p:spPr>
          <a:xfrm>
            <a:off x="9472136" y="3138011"/>
            <a:ext cx="4170164" cy="627459"/>
          </a:xfrm>
          <a:prstGeom prst="rect">
            <a:avLst/>
          </a:prstGeom>
          <a:noFill/>
          <a:ln/>
        </p:spPr>
        <p:txBody>
          <a:bodyPr wrap="squar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Captures explicit seasonality (e.g., Coats sell in Dec, Swimwear in July).</a:t>
            </a:r>
            <a:endParaRPr lang="en-US" sz="1500" dirty="0"/>
          </a:p>
        </p:txBody>
      </p:sp>
      <p:sp>
        <p:nvSpPr>
          <p:cNvPr id="9" name="Shape 7"/>
          <p:cNvSpPr/>
          <p:nvPr/>
        </p:nvSpPr>
        <p:spPr>
          <a:xfrm>
            <a:off x="792004" y="3890724"/>
            <a:ext cx="13046393" cy="877967"/>
          </a:xfrm>
          <a:prstGeom prst="rect">
            <a:avLst/>
          </a:prstGeom>
          <a:solidFill>
            <a:srgbClr val="000000">
              <a:alpha val="4000"/>
            </a:srgbClr>
          </a:solidFill>
          <a:ln/>
        </p:spPr>
      </p:sp>
      <p:sp>
        <p:nvSpPr>
          <p:cNvPr id="10" name="Text 8"/>
          <p:cNvSpPr/>
          <p:nvPr/>
        </p:nvSpPr>
        <p:spPr>
          <a:xfrm>
            <a:off x="988219" y="4015978"/>
            <a:ext cx="2865596" cy="313730"/>
          </a:xfrm>
          <a:prstGeom prst="rect">
            <a:avLst/>
          </a:prstGeom>
          <a:noFill/>
          <a:ln/>
        </p:spPr>
        <p:txBody>
          <a:bodyPr wrap="non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Sales Quantity</a:t>
            </a:r>
            <a:endParaRPr lang="en-US" sz="1500" dirty="0"/>
          </a:p>
        </p:txBody>
      </p:sp>
      <p:sp>
        <p:nvSpPr>
          <p:cNvPr id="11" name="Text 9"/>
          <p:cNvSpPr/>
          <p:nvPr/>
        </p:nvSpPr>
        <p:spPr>
          <a:xfrm>
            <a:off x="4253627" y="4015978"/>
            <a:ext cx="4818698" cy="313730"/>
          </a:xfrm>
          <a:prstGeom prst="rect">
            <a:avLst/>
          </a:prstGeom>
          <a:noFill/>
          <a:ln/>
        </p:spPr>
        <p:txBody>
          <a:bodyPr wrap="non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Lag_1_Week (Previous Week's Sales)</a:t>
            </a:r>
            <a:endParaRPr lang="en-US" sz="1500" dirty="0"/>
          </a:p>
        </p:txBody>
      </p:sp>
      <p:sp>
        <p:nvSpPr>
          <p:cNvPr id="12" name="Text 10"/>
          <p:cNvSpPr/>
          <p:nvPr/>
        </p:nvSpPr>
        <p:spPr>
          <a:xfrm>
            <a:off x="9472136" y="4015978"/>
            <a:ext cx="4170164" cy="627459"/>
          </a:xfrm>
          <a:prstGeom prst="rect">
            <a:avLst/>
          </a:prstGeom>
          <a:noFill/>
          <a:ln/>
        </p:spPr>
        <p:txBody>
          <a:bodyPr wrap="squar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Tells the model that recent performance is the best predictor of near-future trends.</a:t>
            </a:r>
            <a:endParaRPr lang="en-US" sz="1500" dirty="0"/>
          </a:p>
        </p:txBody>
      </p:sp>
      <p:sp>
        <p:nvSpPr>
          <p:cNvPr id="13" name="Shape 11"/>
          <p:cNvSpPr/>
          <p:nvPr/>
        </p:nvSpPr>
        <p:spPr>
          <a:xfrm>
            <a:off x="792004" y="4768691"/>
            <a:ext cx="13046393" cy="1191697"/>
          </a:xfrm>
          <a:prstGeom prst="rect">
            <a:avLst/>
          </a:prstGeom>
          <a:solidFill>
            <a:srgbClr val="FFFFFF">
              <a:alpha val="4000"/>
            </a:srgbClr>
          </a:solidFill>
          <a:ln/>
        </p:spPr>
      </p:sp>
      <p:sp>
        <p:nvSpPr>
          <p:cNvPr id="14" name="Text 12"/>
          <p:cNvSpPr/>
          <p:nvPr/>
        </p:nvSpPr>
        <p:spPr>
          <a:xfrm>
            <a:off x="988219" y="4893945"/>
            <a:ext cx="2865596" cy="313730"/>
          </a:xfrm>
          <a:prstGeom prst="rect">
            <a:avLst/>
          </a:prstGeom>
          <a:noFill/>
          <a:ln/>
        </p:spPr>
        <p:txBody>
          <a:bodyPr wrap="non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Product Group</a:t>
            </a:r>
            <a:endParaRPr lang="en-US" sz="1500" dirty="0"/>
          </a:p>
        </p:txBody>
      </p:sp>
      <p:sp>
        <p:nvSpPr>
          <p:cNvPr id="15" name="Text 13"/>
          <p:cNvSpPr/>
          <p:nvPr/>
        </p:nvSpPr>
        <p:spPr>
          <a:xfrm>
            <a:off x="4253627" y="4893945"/>
            <a:ext cx="4818698" cy="313730"/>
          </a:xfrm>
          <a:prstGeom prst="rect">
            <a:avLst/>
          </a:prstGeom>
          <a:noFill/>
          <a:ln/>
        </p:spPr>
        <p:txBody>
          <a:bodyPr wrap="non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Material_Flag</a:t>
            </a:r>
            <a:endParaRPr lang="en-US" sz="1500" dirty="0"/>
          </a:p>
        </p:txBody>
      </p:sp>
      <p:sp>
        <p:nvSpPr>
          <p:cNvPr id="16" name="Text 14"/>
          <p:cNvSpPr/>
          <p:nvPr/>
        </p:nvSpPr>
        <p:spPr>
          <a:xfrm>
            <a:off x="9472136" y="4893945"/>
            <a:ext cx="4170164" cy="941189"/>
          </a:xfrm>
          <a:prstGeom prst="rect">
            <a:avLst/>
          </a:prstGeom>
          <a:noFill/>
          <a:ln/>
        </p:spPr>
        <p:txBody>
          <a:bodyPr wrap="squar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Encoded categories (e.g., 1=Wool, 0=Cotton) to help the model distinguish between winter and summer gear.</a:t>
            </a:r>
            <a:endParaRPr lang="en-US" sz="1500" dirty="0"/>
          </a:p>
        </p:txBody>
      </p:sp>
      <p:sp>
        <p:nvSpPr>
          <p:cNvPr id="17" name="Shape 15"/>
          <p:cNvSpPr/>
          <p:nvPr/>
        </p:nvSpPr>
        <p:spPr>
          <a:xfrm>
            <a:off x="792004" y="5960388"/>
            <a:ext cx="13046393" cy="877967"/>
          </a:xfrm>
          <a:prstGeom prst="rect">
            <a:avLst/>
          </a:prstGeom>
          <a:solidFill>
            <a:srgbClr val="000000">
              <a:alpha val="4000"/>
            </a:srgbClr>
          </a:solidFill>
          <a:ln/>
        </p:spPr>
      </p:sp>
      <p:sp>
        <p:nvSpPr>
          <p:cNvPr id="18" name="Text 16"/>
          <p:cNvSpPr/>
          <p:nvPr/>
        </p:nvSpPr>
        <p:spPr>
          <a:xfrm>
            <a:off x="988219" y="6085642"/>
            <a:ext cx="2865596" cy="313730"/>
          </a:xfrm>
          <a:prstGeom prst="rect">
            <a:avLst/>
          </a:prstGeom>
          <a:noFill/>
          <a:ln/>
        </p:spPr>
        <p:txBody>
          <a:bodyPr wrap="non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Calendar</a:t>
            </a:r>
            <a:endParaRPr lang="en-US" sz="1500" dirty="0"/>
          </a:p>
        </p:txBody>
      </p:sp>
      <p:sp>
        <p:nvSpPr>
          <p:cNvPr id="19" name="Text 17"/>
          <p:cNvSpPr/>
          <p:nvPr/>
        </p:nvSpPr>
        <p:spPr>
          <a:xfrm>
            <a:off x="4253627" y="6085642"/>
            <a:ext cx="4818698" cy="313730"/>
          </a:xfrm>
          <a:prstGeom prst="rect">
            <a:avLst/>
          </a:prstGeom>
          <a:noFill/>
          <a:ln/>
        </p:spPr>
        <p:txBody>
          <a:bodyPr wrap="non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Holiday_Flag</a:t>
            </a:r>
            <a:endParaRPr lang="en-US" sz="1500" dirty="0"/>
          </a:p>
        </p:txBody>
      </p:sp>
      <p:sp>
        <p:nvSpPr>
          <p:cNvPr id="20" name="Text 18"/>
          <p:cNvSpPr/>
          <p:nvPr/>
        </p:nvSpPr>
        <p:spPr>
          <a:xfrm>
            <a:off x="9472136" y="6085642"/>
            <a:ext cx="4170164" cy="627459"/>
          </a:xfrm>
          <a:prstGeom prst="rect">
            <a:avLst/>
          </a:prstGeom>
          <a:noFill/>
          <a:ln/>
        </p:spPr>
        <p:txBody>
          <a:bodyPr wrap="squar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Binary (0/1) marker for major shopping events (Black Friday, Christmas).</a:t>
            </a:r>
            <a:endParaRPr lang="en-US" sz="1500" dirty="0"/>
          </a:p>
        </p:txBody>
      </p:sp>
      <p:sp>
        <p:nvSpPr>
          <p:cNvPr id="21" name="Text 19"/>
          <p:cNvSpPr/>
          <p:nvPr/>
        </p:nvSpPr>
        <p:spPr>
          <a:xfrm>
            <a:off x="784384" y="7066598"/>
            <a:ext cx="13061633" cy="627459"/>
          </a:xfrm>
          <a:prstGeom prst="rect">
            <a:avLst/>
          </a:prstGeom>
          <a:noFill/>
          <a:ln/>
        </p:spPr>
        <p:txBody>
          <a:bodyPr wrap="square" lIns="0" tIns="0" rIns="0" bIns="0" rtlCol="0" anchor="t"/>
          <a:lstStyle/>
          <a:p>
            <a:pPr marL="0" indent="0" algn="l">
              <a:lnSpc>
                <a:spcPts val="2450"/>
              </a:lnSpc>
              <a:buNone/>
            </a:pPr>
            <a:r>
              <a:rPr lang="en-US" sz="1500" dirty="0">
                <a:solidFill>
                  <a:srgbClr val="49495A"/>
                </a:solidFill>
                <a:latin typeface="Open Sans" pitchFamily="34" charset="0"/>
                <a:ea typeface="Open Sans" pitchFamily="34" charset="-122"/>
                <a:cs typeface="Open Sans" pitchFamily="34" charset="-120"/>
              </a:rPr>
              <a:t>These engineered features provide the Random Forest model with richer, more contextually relevant information, enabling it to make more accurate and nuanced predictions about future sales demand.</a:t>
            </a:r>
            <a:endParaRPr lang="en-US" sz="1500" dirty="0"/>
          </a:p>
        </p:txBody>
      </p:sp>
      <p:pic>
        <p:nvPicPr>
          <p:cNvPr id="22" name="Picture 21">
            <a:extLst>
              <a:ext uri="{FF2B5EF4-FFF2-40B4-BE49-F238E27FC236}">
                <a16:creationId xmlns:a16="http://schemas.microsoft.com/office/drawing/2014/main" id="{25CDFCF7-D8F2-2DB8-C844-73F3A4F83FDD}"/>
              </a:ext>
            </a:extLst>
          </p:cNvPr>
          <p:cNvPicPr>
            <a:picLocks noChangeAspect="1"/>
          </p:cNvPicPr>
          <p:nvPr/>
        </p:nvPicPr>
        <p:blipFill>
          <a:blip r:embed="rId3"/>
          <a:stretch>
            <a:fillRect/>
          </a:stretch>
        </p:blipFill>
        <p:spPr>
          <a:xfrm>
            <a:off x="12902198" y="7786449"/>
            <a:ext cx="1728202" cy="3602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36652"/>
            <a:ext cx="12042219" cy="620078"/>
          </a:xfrm>
          <a:prstGeom prst="rect">
            <a:avLst/>
          </a:prstGeom>
          <a:noFill/>
          <a:ln/>
        </p:spPr>
        <p:txBody>
          <a:bodyPr wrap="none" lIns="0" tIns="0" rIns="0" bIns="0" rtlCol="0" anchor="t"/>
          <a:lstStyle/>
          <a:p>
            <a:pPr marL="0" indent="0" algn="l">
              <a:lnSpc>
                <a:spcPts val="4850"/>
              </a:lnSpc>
              <a:buNone/>
            </a:pPr>
            <a:r>
              <a:rPr lang="en-US" sz="3900" dirty="0">
                <a:solidFill>
                  <a:srgbClr val="403CCF"/>
                </a:solidFill>
                <a:latin typeface="Libre Baskerville" pitchFamily="34" charset="0"/>
                <a:ea typeface="Libre Baskerville" pitchFamily="34" charset="-122"/>
                <a:cs typeface="Libre Baskerville" pitchFamily="34" charset="-120"/>
              </a:rPr>
              <a:t>Modelling Approach: Random Forest Regressor</a:t>
            </a:r>
            <a:endParaRPr lang="en-US" sz="3900" dirty="0"/>
          </a:p>
        </p:txBody>
      </p:sp>
      <p:sp>
        <p:nvSpPr>
          <p:cNvPr id="3" name="Text 1"/>
          <p:cNvSpPr/>
          <p:nvPr/>
        </p:nvSpPr>
        <p:spPr>
          <a:xfrm>
            <a:off x="793790" y="185356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For our demand forecasting, we selected the Random Forest Regressor due to its robust capabilities in handling complex, non-linear datasets typical of fashion retail.</a:t>
            </a:r>
            <a:endParaRPr lang="en-US" sz="1550" dirty="0"/>
          </a:p>
        </p:txBody>
      </p:sp>
      <p:sp>
        <p:nvSpPr>
          <p:cNvPr id="4" name="Text 2"/>
          <p:cNvSpPr/>
          <p:nvPr/>
        </p:nvSpPr>
        <p:spPr>
          <a:xfrm>
            <a:off x="793790" y="2786301"/>
            <a:ext cx="3282434" cy="372070"/>
          </a:xfrm>
          <a:prstGeom prst="rect">
            <a:avLst/>
          </a:prstGeom>
          <a:noFill/>
          <a:ln/>
        </p:spPr>
        <p:txBody>
          <a:bodyPr wrap="none" lIns="0" tIns="0" rIns="0" bIns="0" rtlCol="0" anchor="t"/>
          <a:lstStyle/>
          <a:p>
            <a:pPr marL="0" indent="0" algn="l">
              <a:lnSpc>
                <a:spcPts val="2900"/>
              </a:lnSpc>
              <a:buNone/>
            </a:pPr>
            <a:r>
              <a:rPr lang="en-US" sz="2300" dirty="0">
                <a:solidFill>
                  <a:srgbClr val="403CCF"/>
                </a:solidFill>
                <a:latin typeface="Libre Baskerville" pitchFamily="34" charset="0"/>
                <a:ea typeface="Libre Baskerville" pitchFamily="34" charset="-122"/>
                <a:cs typeface="Libre Baskerville" pitchFamily="34" charset="-120"/>
              </a:rPr>
              <a:t>Why Random Forest?</a:t>
            </a:r>
            <a:endParaRPr lang="en-US" sz="23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8204" y="3462099"/>
            <a:ext cx="297656" cy="297656"/>
          </a:xfrm>
          <a:prstGeom prst="rect">
            <a:avLst/>
          </a:prstGeom>
        </p:spPr>
      </p:pic>
      <p:sp>
        <p:nvSpPr>
          <p:cNvPr id="6" name="Text 3"/>
          <p:cNvSpPr/>
          <p:nvPr/>
        </p:nvSpPr>
        <p:spPr>
          <a:xfrm>
            <a:off x="1438632" y="3456027"/>
            <a:ext cx="2943106"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Handles Non-Linearity</a:t>
            </a:r>
            <a:endParaRPr lang="en-US" sz="1950" dirty="0"/>
          </a:p>
        </p:txBody>
      </p:sp>
      <p:sp>
        <p:nvSpPr>
          <p:cNvPr id="7" name="Text 4"/>
          <p:cNvSpPr/>
          <p:nvPr/>
        </p:nvSpPr>
        <p:spPr>
          <a:xfrm>
            <a:off x="1438632" y="3885247"/>
            <a:ext cx="3537347" cy="1905238"/>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Unlike simpler models such as Linear Regression, Random Forest excels at capturing complex, non-linear seasonal patterns, including sudden and significant holiday spikes in demand.</a:t>
            </a:r>
            <a:endParaRPr lang="en-US" sz="155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98400" y="3462099"/>
            <a:ext cx="297656" cy="297656"/>
          </a:xfrm>
          <a:prstGeom prst="rect">
            <a:avLst/>
          </a:prstGeom>
        </p:spPr>
      </p:pic>
      <p:sp>
        <p:nvSpPr>
          <p:cNvPr id="9" name="Text 5"/>
          <p:cNvSpPr/>
          <p:nvPr/>
        </p:nvSpPr>
        <p:spPr>
          <a:xfrm>
            <a:off x="5868829" y="345602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Robust to Outliers</a:t>
            </a:r>
            <a:endParaRPr lang="en-US" sz="1950" dirty="0"/>
          </a:p>
        </p:txBody>
      </p:sp>
      <p:sp>
        <p:nvSpPr>
          <p:cNvPr id="10" name="Text 6"/>
          <p:cNvSpPr/>
          <p:nvPr/>
        </p:nvSpPr>
        <p:spPr>
          <a:xfrm>
            <a:off x="5868829" y="3885247"/>
            <a:ext cx="3537466" cy="1905238"/>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The ensemble nature of Random Forest makes it less sensitive to random noise or outliers in the data, providing more stable and reliable predictions compared to single decision trees.</a:t>
            </a:r>
            <a:endParaRPr lang="en-US" sz="155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28716" y="3462099"/>
            <a:ext cx="297656" cy="297656"/>
          </a:xfrm>
          <a:prstGeom prst="rect">
            <a:avLst/>
          </a:prstGeom>
        </p:spPr>
      </p:pic>
      <p:sp>
        <p:nvSpPr>
          <p:cNvPr id="12" name="Text 7"/>
          <p:cNvSpPr/>
          <p:nvPr/>
        </p:nvSpPr>
        <p:spPr>
          <a:xfrm>
            <a:off x="10299144" y="345602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Feature Interaction</a:t>
            </a:r>
            <a:endParaRPr lang="en-US" sz="1950" dirty="0"/>
          </a:p>
        </p:txBody>
      </p:sp>
      <p:sp>
        <p:nvSpPr>
          <p:cNvPr id="13" name="Text 8"/>
          <p:cNvSpPr/>
          <p:nvPr/>
        </p:nvSpPr>
        <p:spPr>
          <a:xfrm>
            <a:off x="10299144" y="3885247"/>
            <a:ext cx="3537466" cy="1905238"/>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It effectively combines and interprets interactions between different types of data, such as categorical (Product Type) and numerical (Sales counts), uncovering hidden patterns that might be missed by other algorithms.</a:t>
            </a:r>
            <a:endParaRPr lang="en-US" sz="1550" dirty="0"/>
          </a:p>
        </p:txBody>
      </p:sp>
      <p:sp>
        <p:nvSpPr>
          <p:cNvPr id="14" name="Text 9"/>
          <p:cNvSpPr/>
          <p:nvPr/>
        </p:nvSpPr>
        <p:spPr>
          <a:xfrm>
            <a:off x="793790" y="6088142"/>
            <a:ext cx="3605332" cy="372070"/>
          </a:xfrm>
          <a:prstGeom prst="rect">
            <a:avLst/>
          </a:prstGeom>
          <a:noFill/>
          <a:ln/>
        </p:spPr>
        <p:txBody>
          <a:bodyPr wrap="none" lIns="0" tIns="0" rIns="0" bIns="0" rtlCol="0" anchor="t"/>
          <a:lstStyle/>
          <a:p>
            <a:pPr marL="0" indent="0" algn="l">
              <a:lnSpc>
                <a:spcPts val="2900"/>
              </a:lnSpc>
              <a:buNone/>
            </a:pPr>
            <a:r>
              <a:rPr lang="en-US" sz="2300" dirty="0">
                <a:solidFill>
                  <a:srgbClr val="403CCF"/>
                </a:solidFill>
                <a:latin typeface="Libre Baskerville" pitchFamily="34" charset="0"/>
                <a:ea typeface="Libre Baskerville" pitchFamily="34" charset="-122"/>
                <a:cs typeface="Libre Baskerville" pitchFamily="34" charset="-120"/>
              </a:rPr>
              <a:t>Alternative Considered:</a:t>
            </a:r>
            <a:endParaRPr lang="en-US" sz="2300" dirty="0"/>
          </a:p>
        </p:txBody>
      </p:sp>
      <p:sp>
        <p:nvSpPr>
          <p:cNvPr id="15" name="Text 10"/>
          <p:cNvSpPr/>
          <p:nvPr/>
        </p:nvSpPr>
        <p:spPr>
          <a:xfrm>
            <a:off x="793790" y="675786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We considered a General Linear Model (GLM) but ultimately rejected it. GLM assumes a straight-line relationship, which proved inadequate for capturing the drastic seasonal ups and downs inherent in fashion sales data. Random Forest's flexibility was essential for this challenge.</a:t>
            </a:r>
            <a:endParaRPr lang="en-US" sz="1550" dirty="0"/>
          </a:p>
        </p:txBody>
      </p:sp>
      <p:pic>
        <p:nvPicPr>
          <p:cNvPr id="16" name="Picture 15">
            <a:extLst>
              <a:ext uri="{FF2B5EF4-FFF2-40B4-BE49-F238E27FC236}">
                <a16:creationId xmlns:a16="http://schemas.microsoft.com/office/drawing/2014/main" id="{4BF2E0E7-AFB0-850B-217D-218BEA3AFC86}"/>
              </a:ext>
            </a:extLst>
          </p:cNvPr>
          <p:cNvPicPr>
            <a:picLocks noChangeAspect="1"/>
          </p:cNvPicPr>
          <p:nvPr/>
        </p:nvPicPr>
        <p:blipFill>
          <a:blip r:embed="rId5"/>
          <a:stretch>
            <a:fillRect/>
          </a:stretch>
        </p:blipFill>
        <p:spPr>
          <a:xfrm>
            <a:off x="12902198" y="7786449"/>
            <a:ext cx="1728202" cy="3602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4857" y="467004"/>
            <a:ext cx="11113413" cy="620078"/>
          </a:xfrm>
          <a:prstGeom prst="rect">
            <a:avLst/>
          </a:prstGeom>
          <a:noFill/>
          <a:ln/>
        </p:spPr>
        <p:txBody>
          <a:bodyPr wrap="none" lIns="0" tIns="0" rIns="0" bIns="0" rtlCol="0" anchor="t"/>
          <a:lstStyle/>
          <a:p>
            <a:pPr marL="0" indent="0" algn="l">
              <a:lnSpc>
                <a:spcPts val="4850"/>
              </a:lnSpc>
              <a:buNone/>
            </a:pPr>
            <a:r>
              <a:rPr lang="en-US" sz="3900" dirty="0">
                <a:solidFill>
                  <a:srgbClr val="403CCF"/>
                </a:solidFill>
                <a:latin typeface="Libre Baskerville" pitchFamily="34" charset="0"/>
                <a:ea typeface="Libre Baskerville" pitchFamily="34" charset="-122"/>
                <a:cs typeface="Libre Baskerville" pitchFamily="34" charset="-120"/>
              </a:rPr>
              <a:t>Model Evaluation: Performance &amp; Accuracy</a:t>
            </a:r>
            <a:endParaRPr lang="en-US" sz="3900" dirty="0"/>
          </a:p>
        </p:txBody>
      </p:sp>
      <p:sp>
        <p:nvSpPr>
          <p:cNvPr id="3" name="Text 1"/>
          <p:cNvSpPr/>
          <p:nvPr/>
        </p:nvSpPr>
        <p:spPr>
          <a:xfrm>
            <a:off x="764857" y="116637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Our Random Forest Regressor model demonstrated strong performance in predicting weekly sales, effectively capturing both peak demand periods and post-season declines.</a:t>
            </a:r>
            <a:endParaRPr lang="en-US" sz="1550" dirty="0"/>
          </a:p>
        </p:txBody>
      </p:sp>
      <p:sp>
        <p:nvSpPr>
          <p:cNvPr id="4" name="Text 2"/>
          <p:cNvSpPr/>
          <p:nvPr/>
        </p:nvSpPr>
        <p:spPr>
          <a:xfrm>
            <a:off x="764857" y="1936200"/>
            <a:ext cx="3290530" cy="372070"/>
          </a:xfrm>
          <a:prstGeom prst="rect">
            <a:avLst/>
          </a:prstGeom>
          <a:noFill/>
          <a:ln/>
        </p:spPr>
        <p:txBody>
          <a:bodyPr wrap="none" lIns="0" tIns="0" rIns="0" bIns="0" rtlCol="0" anchor="t"/>
          <a:lstStyle/>
          <a:p>
            <a:pPr marL="0" indent="0" algn="l">
              <a:lnSpc>
                <a:spcPts val="2900"/>
              </a:lnSpc>
              <a:buNone/>
            </a:pPr>
            <a:r>
              <a:rPr lang="en-US" sz="2300" dirty="0">
                <a:solidFill>
                  <a:srgbClr val="403CCF"/>
                </a:solidFill>
                <a:latin typeface="Libre Baskerville" pitchFamily="34" charset="0"/>
                <a:ea typeface="Libre Baskerville" pitchFamily="34" charset="-122"/>
                <a:cs typeface="Libre Baskerville" pitchFamily="34" charset="-120"/>
              </a:rPr>
              <a:t>Performance Metrics:</a:t>
            </a:r>
            <a:endParaRPr lang="en-US" sz="2300" dirty="0"/>
          </a:p>
        </p:txBody>
      </p:sp>
      <p:sp>
        <p:nvSpPr>
          <p:cNvPr id="5" name="Text 3"/>
          <p:cNvSpPr/>
          <p:nvPr/>
        </p:nvSpPr>
        <p:spPr>
          <a:xfrm>
            <a:off x="-75784" y="2441358"/>
            <a:ext cx="6397347" cy="654963"/>
          </a:xfrm>
          <a:prstGeom prst="rect">
            <a:avLst/>
          </a:prstGeom>
          <a:noFill/>
          <a:ln/>
        </p:spPr>
        <p:txBody>
          <a:bodyPr wrap="none" lIns="0" tIns="0" rIns="0" bIns="0" rtlCol="0" anchor="t"/>
          <a:lstStyle/>
          <a:p>
            <a:pPr marL="0" indent="0" algn="ctr">
              <a:lnSpc>
                <a:spcPts val="5150"/>
              </a:lnSpc>
              <a:buNone/>
            </a:pPr>
            <a:r>
              <a:rPr lang="en-US" sz="4400" dirty="0">
                <a:solidFill>
                  <a:srgbClr val="49495A"/>
                </a:solidFill>
                <a:latin typeface="Libre Baskerville" pitchFamily="34" charset="0"/>
              </a:rPr>
              <a:t>14,107</a:t>
            </a:r>
            <a:endParaRPr lang="en-US" sz="4400" dirty="0"/>
          </a:p>
        </p:txBody>
      </p:sp>
      <p:sp>
        <p:nvSpPr>
          <p:cNvPr id="6" name="Text 4"/>
          <p:cNvSpPr/>
          <p:nvPr/>
        </p:nvSpPr>
        <p:spPr>
          <a:xfrm>
            <a:off x="1101209" y="3155733"/>
            <a:ext cx="4319349" cy="310158"/>
          </a:xfrm>
          <a:prstGeom prst="rect">
            <a:avLst/>
          </a:prstGeom>
          <a:noFill/>
          <a:ln/>
        </p:spPr>
        <p:txBody>
          <a:bodyPr wrap="none" lIns="0" tIns="0" rIns="0" bIns="0" rtlCol="0" anchor="t"/>
          <a:lstStyle/>
          <a:p>
            <a:pPr marL="0" indent="0" algn="ctr">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RMSE (Root Mean Squared Error)</a:t>
            </a:r>
            <a:endParaRPr lang="en-US" sz="1950" dirty="0"/>
          </a:p>
        </p:txBody>
      </p:sp>
      <p:sp>
        <p:nvSpPr>
          <p:cNvPr id="7" name="Text 5"/>
          <p:cNvSpPr/>
          <p:nvPr/>
        </p:nvSpPr>
        <p:spPr>
          <a:xfrm>
            <a:off x="460303" y="3554479"/>
            <a:ext cx="6397347" cy="635079"/>
          </a:xfrm>
          <a:prstGeom prst="rect">
            <a:avLst/>
          </a:prstGeom>
          <a:noFill/>
          <a:ln/>
        </p:spPr>
        <p:txBody>
          <a:bodyPr wrap="square" lIns="0" tIns="0" rIns="0" bIns="0" rtlCol="0" anchor="t"/>
          <a:lstStyle/>
          <a:p>
            <a:pPr algn="ctr">
              <a:lnSpc>
                <a:spcPts val="2500"/>
              </a:lnSpc>
            </a:pPr>
            <a:r>
              <a:rPr lang="en-US" sz="1550" dirty="0">
                <a:latin typeface="Open Sans" panose="020B0606030504020204" pitchFamily="34" charset="0"/>
                <a:ea typeface="Open Sans" panose="020B0606030504020204" pitchFamily="34" charset="0"/>
                <a:cs typeface="Open Sans" panose="020B0606030504020204" pitchFamily="34" charset="0"/>
              </a:rPr>
              <a:t>On average, the daily forecast deviates by ~14k units. Given daily volumes up to 60k, this margin captures the volatility reasonably well.</a:t>
            </a:r>
          </a:p>
        </p:txBody>
      </p:sp>
      <p:sp>
        <p:nvSpPr>
          <p:cNvPr id="8" name="Text 6"/>
          <p:cNvSpPr/>
          <p:nvPr/>
        </p:nvSpPr>
        <p:spPr>
          <a:xfrm>
            <a:off x="334797" y="4570895"/>
            <a:ext cx="6397466" cy="654963"/>
          </a:xfrm>
          <a:prstGeom prst="rect">
            <a:avLst/>
          </a:prstGeom>
          <a:noFill/>
          <a:ln/>
        </p:spPr>
        <p:txBody>
          <a:bodyPr wrap="none" lIns="0" tIns="0" rIns="0" bIns="0" rtlCol="0" anchor="t"/>
          <a:lstStyle/>
          <a:p>
            <a:pPr algn="ctr">
              <a:lnSpc>
                <a:spcPts val="5150"/>
              </a:lnSpc>
            </a:pPr>
            <a:r>
              <a:rPr lang="en-IN" sz="4000" dirty="0">
                <a:latin typeface="Open Sans" panose="020B0606030504020204" pitchFamily="34" charset="0"/>
                <a:ea typeface="Open Sans" panose="020B0606030504020204" pitchFamily="34" charset="0"/>
                <a:cs typeface="Open Sans" panose="020B0606030504020204" pitchFamily="34" charset="0"/>
              </a:rPr>
              <a:t>Trend Alignment</a:t>
            </a:r>
            <a:endParaRPr lang="en-US" sz="40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1882377" y="5321016"/>
            <a:ext cx="2480905" cy="310158"/>
          </a:xfrm>
          <a:prstGeom prst="rect">
            <a:avLst/>
          </a:prstGeom>
          <a:noFill/>
          <a:ln/>
        </p:spPr>
        <p:txBody>
          <a:bodyPr wrap="none" lIns="0" tIns="0" rIns="0" bIns="0" rtlCol="0" anchor="t"/>
          <a:lstStyle/>
          <a:p>
            <a:pPr marL="0" indent="0" algn="ctr">
              <a:lnSpc>
                <a:spcPts val="2400"/>
              </a:lnSpc>
              <a:buNone/>
            </a:pPr>
            <a:endParaRPr lang="en-US" sz="1950" dirty="0"/>
          </a:p>
        </p:txBody>
      </p:sp>
      <p:sp>
        <p:nvSpPr>
          <p:cNvPr id="10" name="Text 8"/>
          <p:cNvSpPr/>
          <p:nvPr/>
        </p:nvSpPr>
        <p:spPr>
          <a:xfrm>
            <a:off x="460184" y="5476095"/>
            <a:ext cx="6397466" cy="635079"/>
          </a:xfrm>
          <a:prstGeom prst="rect">
            <a:avLst/>
          </a:prstGeom>
          <a:noFill/>
          <a:ln/>
        </p:spPr>
        <p:txBody>
          <a:bodyPr wrap="square" lIns="0" tIns="0" rIns="0" bIns="0" rtlCol="0" anchor="t"/>
          <a:lstStyle/>
          <a:p>
            <a:pPr algn="ctr">
              <a:lnSpc>
                <a:spcPts val="2500"/>
              </a:lnSpc>
            </a:pPr>
            <a:r>
              <a:rPr lang="en-US" sz="1550" dirty="0">
                <a:latin typeface="Open Sans" panose="020B0606030504020204" pitchFamily="34" charset="0"/>
                <a:ea typeface="Open Sans" panose="020B0606030504020204" pitchFamily="34" charset="0"/>
                <a:cs typeface="Open Sans" panose="020B0606030504020204" pitchFamily="34" charset="0"/>
              </a:rPr>
              <a:t>The visual plot confirms that the model (Red Line) successfully reacts to the sudden sales drops in October, validating its use for trend detection.</a:t>
            </a:r>
          </a:p>
        </p:txBody>
      </p:sp>
      <p:sp>
        <p:nvSpPr>
          <p:cNvPr id="11" name="Text 9"/>
          <p:cNvSpPr/>
          <p:nvPr/>
        </p:nvSpPr>
        <p:spPr>
          <a:xfrm>
            <a:off x="764857" y="6674621"/>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403CCF"/>
                </a:solidFill>
                <a:latin typeface="Libre Baskerville" pitchFamily="34" charset="0"/>
                <a:ea typeface="Libre Baskerville" pitchFamily="34" charset="-122"/>
                <a:cs typeface="Libre Baskerville" pitchFamily="34" charset="-120"/>
              </a:rPr>
              <a:t>Conclusion:</a:t>
            </a:r>
            <a:endParaRPr lang="en-US" sz="2300" dirty="0"/>
          </a:p>
        </p:txBody>
      </p:sp>
      <p:sp>
        <p:nvSpPr>
          <p:cNvPr id="12" name="Text 10"/>
          <p:cNvSpPr/>
          <p:nvPr/>
        </p:nvSpPr>
        <p:spPr>
          <a:xfrm>
            <a:off x="764856" y="7127517"/>
            <a:ext cx="13042821" cy="635079"/>
          </a:xfrm>
          <a:prstGeom prst="rect">
            <a:avLst/>
          </a:prstGeom>
          <a:noFill/>
          <a:ln/>
        </p:spPr>
        <p:txBody>
          <a:bodyPr wrap="square" lIns="0" tIns="0" rIns="0" bIns="0" rtlCol="0" anchor="t"/>
          <a:lstStyle/>
          <a:p>
            <a:pPr>
              <a:lnSpc>
                <a:spcPts val="2500"/>
              </a:lnSpc>
            </a:pPr>
            <a:r>
              <a:rPr lang="en-US" sz="1550" dirty="0">
                <a:ln w="0"/>
                <a:effectLst>
                  <a:outerShdw blurRad="38100" dist="19050" dir="2700000" algn="tl" rotWithShape="0">
                    <a:schemeClr val="dk1">
                      <a:alpha val="40000"/>
                    </a:schemeClr>
                  </a:outerShdw>
                </a:effectLst>
                <a:latin typeface="Open Sans" pitchFamily="34" charset="0"/>
                <a:ea typeface="Open Sans" pitchFamily="34" charset="-122"/>
                <a:cs typeface="Open Sans" pitchFamily="34" charset="-120"/>
              </a:rPr>
              <a:t>The model successfully predicts both the significant holiday peaks and the subsequent post-season drops. </a:t>
            </a:r>
            <a:r>
              <a:rPr lang="en-US" sz="1550" dirty="0">
                <a:latin typeface="Open Sans" panose="020B0606030504020204" pitchFamily="34" charset="0"/>
                <a:ea typeface="Open Sans" panose="020B0606030504020204" pitchFamily="34" charset="0"/>
                <a:cs typeface="Open Sans" panose="020B0606030504020204" pitchFamily="34" charset="0"/>
              </a:rPr>
              <a:t>The model successfully predicts directional shifts, making it useful for planning inventory changes despite daily volatility</a:t>
            </a:r>
          </a:p>
        </p:txBody>
      </p:sp>
      <p:pic>
        <p:nvPicPr>
          <p:cNvPr id="14" name="Picture 13">
            <a:extLst>
              <a:ext uri="{FF2B5EF4-FFF2-40B4-BE49-F238E27FC236}">
                <a16:creationId xmlns:a16="http://schemas.microsoft.com/office/drawing/2014/main" id="{FC0F8310-D633-7ABE-AFF7-065B11718A1C}"/>
              </a:ext>
            </a:extLst>
          </p:cNvPr>
          <p:cNvPicPr>
            <a:picLocks noChangeAspect="1"/>
          </p:cNvPicPr>
          <p:nvPr/>
        </p:nvPicPr>
        <p:blipFill>
          <a:blip r:embed="rId3"/>
          <a:stretch>
            <a:fillRect/>
          </a:stretch>
        </p:blipFill>
        <p:spPr>
          <a:xfrm>
            <a:off x="7035493" y="2047336"/>
            <a:ext cx="7315215" cy="4572009"/>
          </a:xfrm>
          <a:prstGeom prst="rect">
            <a:avLst/>
          </a:prstGeom>
        </p:spPr>
      </p:pic>
      <p:pic>
        <p:nvPicPr>
          <p:cNvPr id="15" name="Picture 14">
            <a:extLst>
              <a:ext uri="{FF2B5EF4-FFF2-40B4-BE49-F238E27FC236}">
                <a16:creationId xmlns:a16="http://schemas.microsoft.com/office/drawing/2014/main" id="{7121293C-9471-B475-F507-B0F8A2B087C3}"/>
              </a:ext>
            </a:extLst>
          </p:cNvPr>
          <p:cNvPicPr>
            <a:picLocks noChangeAspect="1"/>
          </p:cNvPicPr>
          <p:nvPr/>
        </p:nvPicPr>
        <p:blipFill>
          <a:blip r:embed="rId4"/>
          <a:stretch>
            <a:fillRect/>
          </a:stretch>
        </p:blipFill>
        <p:spPr>
          <a:xfrm>
            <a:off x="12902198" y="7786449"/>
            <a:ext cx="1728202" cy="3602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74871"/>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403CCF"/>
                </a:solidFill>
                <a:latin typeface="Libre Baskerville" pitchFamily="34" charset="0"/>
                <a:ea typeface="Libre Baskerville" pitchFamily="34" charset="-122"/>
                <a:cs typeface="Libre Baskerville" pitchFamily="34" charset="-120"/>
              </a:rPr>
              <a:t>The "So What?": Actionable Business Recommendations</a:t>
            </a:r>
            <a:endParaRPr lang="en-US" sz="3900" dirty="0"/>
          </a:p>
        </p:txBody>
      </p:sp>
      <p:sp>
        <p:nvSpPr>
          <p:cNvPr id="3" name="Text 1"/>
          <p:cNvSpPr/>
          <p:nvPr/>
        </p:nvSpPr>
        <p:spPr>
          <a:xfrm>
            <a:off x="793790" y="2511862"/>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9495A"/>
                </a:solidFill>
                <a:latin typeface="Open Sans" pitchFamily="34" charset="0"/>
                <a:ea typeface="Open Sans" pitchFamily="34" charset="-122"/>
                <a:cs typeface="Open Sans" pitchFamily="34" charset="-120"/>
              </a:rPr>
              <a:t>Based on our model's insights, we propose three key actionable recommendations to optimise inventory management and maximise profitability for fashion retailers.</a:t>
            </a:r>
            <a:endParaRPr lang="en-US" sz="1550" dirty="0"/>
          </a:p>
        </p:txBody>
      </p:sp>
      <p:sp>
        <p:nvSpPr>
          <p:cNvPr id="4" name="Shape 2"/>
          <p:cNvSpPr/>
          <p:nvPr/>
        </p:nvSpPr>
        <p:spPr>
          <a:xfrm>
            <a:off x="793790" y="3667839"/>
            <a:ext cx="4215289" cy="3686889"/>
          </a:xfrm>
          <a:prstGeom prst="roundRect">
            <a:avLst>
              <a:gd name="adj" fmla="val 2976"/>
            </a:avLst>
          </a:prstGeom>
          <a:solidFill>
            <a:srgbClr val="FBFAFF"/>
          </a:solidFill>
          <a:ln/>
        </p:spPr>
      </p:sp>
      <p:pic>
        <p:nvPicPr>
          <p:cNvPr id="5" name="Image 0" descr="preencoded.png"/>
          <p:cNvPicPr>
            <a:picLocks noChangeAspect="1"/>
          </p:cNvPicPr>
          <p:nvPr/>
        </p:nvPicPr>
        <p:blipFill>
          <a:blip r:embed="rId3"/>
          <a:stretch>
            <a:fillRect/>
          </a:stretch>
        </p:blipFill>
        <p:spPr>
          <a:xfrm>
            <a:off x="793790" y="3644979"/>
            <a:ext cx="4215289" cy="91440"/>
          </a:xfrm>
          <a:prstGeom prst="rect">
            <a:avLst/>
          </a:prstGeom>
        </p:spPr>
      </p:pic>
      <p:pic>
        <p:nvPicPr>
          <p:cNvPr id="6" name="Image 1" descr="preencoded.png"/>
          <p:cNvPicPr>
            <a:picLocks noChangeAspect="1"/>
          </p:cNvPicPr>
          <p:nvPr/>
        </p:nvPicPr>
        <p:blipFill>
          <a:blip r:embed="rId4"/>
          <a:stretch>
            <a:fillRect/>
          </a:stretch>
        </p:blipFill>
        <p:spPr>
          <a:xfrm>
            <a:off x="2603778" y="3370183"/>
            <a:ext cx="595313" cy="595313"/>
          </a:xfrm>
          <a:prstGeom prst="rect">
            <a:avLst/>
          </a:prstGeom>
        </p:spPr>
      </p:pic>
      <p:sp>
        <p:nvSpPr>
          <p:cNvPr id="7" name="Text 3"/>
          <p:cNvSpPr/>
          <p:nvPr/>
        </p:nvSpPr>
        <p:spPr>
          <a:xfrm>
            <a:off x="2782372" y="3519011"/>
            <a:ext cx="238125" cy="297656"/>
          </a:xfrm>
          <a:prstGeom prst="rect">
            <a:avLst/>
          </a:prstGeom>
          <a:noFill/>
          <a:ln/>
        </p:spPr>
        <p:txBody>
          <a:bodyPr wrap="none" lIns="0" tIns="0" rIns="0" bIns="0" rtlCol="0" anchor="t"/>
          <a:lstStyle/>
          <a:p>
            <a:pPr marL="0" indent="0" algn="l">
              <a:lnSpc>
                <a:spcPts val="3000"/>
              </a:lnSpc>
              <a:buNone/>
            </a:pPr>
            <a:r>
              <a:rPr lang="en-US" sz="1850" dirty="0">
                <a:solidFill>
                  <a:srgbClr val="FFFFFF"/>
                </a:solidFill>
                <a:latin typeface="Libre Baskerville" pitchFamily="34" charset="0"/>
                <a:ea typeface="Libre Baskerville" pitchFamily="34" charset="-122"/>
                <a:cs typeface="Libre Baskerville" pitchFamily="34" charset="-120"/>
              </a:rPr>
              <a:t>1</a:t>
            </a:r>
            <a:endParaRPr lang="en-US" sz="1850" dirty="0"/>
          </a:p>
        </p:txBody>
      </p:sp>
      <p:sp>
        <p:nvSpPr>
          <p:cNvPr id="8" name="Text 4"/>
          <p:cNvSpPr/>
          <p:nvPr/>
        </p:nvSpPr>
        <p:spPr>
          <a:xfrm>
            <a:off x="1015008" y="4163973"/>
            <a:ext cx="3664625"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Dynamic "Rolling" Inventory</a:t>
            </a:r>
            <a:endParaRPr lang="en-US" sz="1950" dirty="0"/>
          </a:p>
        </p:txBody>
      </p:sp>
      <p:sp>
        <p:nvSpPr>
          <p:cNvPr id="9" name="Text 5"/>
          <p:cNvSpPr/>
          <p:nvPr/>
        </p:nvSpPr>
        <p:spPr>
          <a:xfrm>
            <a:off x="1015008" y="4593193"/>
            <a:ext cx="3772853" cy="2222778"/>
          </a:xfrm>
          <a:prstGeom prst="rect">
            <a:avLst/>
          </a:prstGeom>
          <a:noFill/>
          <a:ln/>
        </p:spPr>
        <p:txBody>
          <a:bodyPr wrap="square" lIns="0" tIns="0" rIns="0" bIns="0" rtlCol="0" anchor="t"/>
          <a:lstStyle/>
          <a:p>
            <a:pPr>
              <a:lnSpc>
                <a:spcPts val="2500"/>
              </a:lnSpc>
            </a:pPr>
            <a:r>
              <a:rPr lang="en-US" sz="1550" dirty="0">
                <a:ln w="0"/>
                <a:effectLst>
                  <a:outerShdw blurRad="38100" dist="19050" dir="2700000" algn="tl" rotWithShape="0">
                    <a:schemeClr val="dk1">
                      <a:alpha val="40000"/>
                    </a:schemeClr>
                  </a:outerShdw>
                </a:effectLst>
                <a:latin typeface="Open Sans" panose="020B0606030504020204" pitchFamily="34" charset="0"/>
                <a:ea typeface="Open Sans" panose="020B0606030504020204" pitchFamily="34" charset="0"/>
                <a:cs typeface="Open Sans" panose="020B0606030504020204" pitchFamily="34" charset="0"/>
              </a:rPr>
              <a:t>Switch from traditional monthly bulk ordering to a flexible weekly replenishment model, directly </a:t>
            </a:r>
            <a:r>
              <a:rPr lang="en-US" sz="1600" dirty="0">
                <a:ln w="0"/>
                <a:effectLst>
                  <a:outerShdw blurRad="38100" dist="19050" dir="2700000" algn="tl" rotWithShape="0">
                    <a:schemeClr val="dk1">
                      <a:alpha val="40000"/>
                    </a:schemeClr>
                  </a:outerShdw>
                </a:effectLst>
                <a:latin typeface="Open Sans" panose="020B0606030504020204" pitchFamily="34" charset="0"/>
                <a:ea typeface="Open Sans" panose="020B0606030504020204" pitchFamily="34" charset="0"/>
                <a:cs typeface="Open Sans" panose="020B0606030504020204" pitchFamily="34" charset="0"/>
              </a:rPr>
              <a:t>informed by daily sales patterns</a:t>
            </a:r>
            <a:r>
              <a:rPr lang="en-US" sz="1550" dirty="0">
                <a:ln w="0"/>
                <a:effectLst>
                  <a:outerShdw blurRad="38100" dist="19050" dir="2700000" algn="tl" rotWithShape="0">
                    <a:schemeClr val="dk1">
                      <a:alpha val="40000"/>
                    </a:schemeClr>
                  </a:outerShdw>
                </a:effectLst>
                <a:latin typeface="Open Sans" panose="020B0606030504020204" pitchFamily="34" charset="0"/>
                <a:ea typeface="Open Sans" panose="020B0606030504020204" pitchFamily="34" charset="0"/>
                <a:cs typeface="Open Sans" panose="020B0606030504020204" pitchFamily="34" charset="0"/>
              </a:rPr>
              <a:t>. This dynamic approach is projected to reduce the risk of holding dead stock by approximately 15%.</a:t>
            </a:r>
          </a:p>
        </p:txBody>
      </p:sp>
      <p:sp>
        <p:nvSpPr>
          <p:cNvPr id="10" name="Shape 6"/>
          <p:cNvSpPr/>
          <p:nvPr/>
        </p:nvSpPr>
        <p:spPr>
          <a:xfrm>
            <a:off x="5207437" y="3667839"/>
            <a:ext cx="4215408" cy="3686889"/>
          </a:xfrm>
          <a:prstGeom prst="roundRect">
            <a:avLst>
              <a:gd name="adj" fmla="val 2976"/>
            </a:avLst>
          </a:prstGeom>
          <a:solidFill>
            <a:srgbClr val="FBFAFF"/>
          </a:solidFill>
          <a:ln/>
        </p:spPr>
      </p:sp>
      <p:pic>
        <p:nvPicPr>
          <p:cNvPr id="11" name="Image 2" descr="preencoded.png"/>
          <p:cNvPicPr>
            <a:picLocks noChangeAspect="1"/>
          </p:cNvPicPr>
          <p:nvPr/>
        </p:nvPicPr>
        <p:blipFill>
          <a:blip r:embed="rId3"/>
          <a:stretch>
            <a:fillRect/>
          </a:stretch>
        </p:blipFill>
        <p:spPr>
          <a:xfrm>
            <a:off x="5207437" y="3644979"/>
            <a:ext cx="4215408" cy="91440"/>
          </a:xfrm>
          <a:prstGeom prst="rect">
            <a:avLst/>
          </a:prstGeom>
        </p:spPr>
      </p:pic>
      <p:pic>
        <p:nvPicPr>
          <p:cNvPr id="12" name="Image 3" descr="preencoded.png"/>
          <p:cNvPicPr>
            <a:picLocks noChangeAspect="1"/>
          </p:cNvPicPr>
          <p:nvPr/>
        </p:nvPicPr>
        <p:blipFill>
          <a:blip r:embed="rId4"/>
          <a:stretch>
            <a:fillRect/>
          </a:stretch>
        </p:blipFill>
        <p:spPr>
          <a:xfrm>
            <a:off x="7017425" y="3370183"/>
            <a:ext cx="595313" cy="595313"/>
          </a:xfrm>
          <a:prstGeom prst="rect">
            <a:avLst/>
          </a:prstGeom>
        </p:spPr>
      </p:pic>
      <p:sp>
        <p:nvSpPr>
          <p:cNvPr id="13" name="Text 7"/>
          <p:cNvSpPr/>
          <p:nvPr/>
        </p:nvSpPr>
        <p:spPr>
          <a:xfrm>
            <a:off x="7196018" y="3519011"/>
            <a:ext cx="238125" cy="297656"/>
          </a:xfrm>
          <a:prstGeom prst="rect">
            <a:avLst/>
          </a:prstGeom>
          <a:noFill/>
          <a:ln/>
        </p:spPr>
        <p:txBody>
          <a:bodyPr wrap="none" lIns="0" tIns="0" rIns="0" bIns="0" rtlCol="0" anchor="t"/>
          <a:lstStyle/>
          <a:p>
            <a:pPr marL="0" indent="0" algn="l">
              <a:lnSpc>
                <a:spcPts val="3000"/>
              </a:lnSpc>
              <a:buNone/>
            </a:pPr>
            <a:r>
              <a:rPr lang="en-US" sz="1850" dirty="0">
                <a:solidFill>
                  <a:srgbClr val="FFFFFF"/>
                </a:solidFill>
                <a:latin typeface="Libre Baskerville" pitchFamily="34" charset="0"/>
                <a:ea typeface="Libre Baskerville" pitchFamily="34" charset="-122"/>
                <a:cs typeface="Libre Baskerville" pitchFamily="34" charset="-120"/>
              </a:rPr>
              <a:t>2</a:t>
            </a:r>
            <a:endParaRPr lang="en-US" sz="1850" dirty="0"/>
          </a:p>
        </p:txBody>
      </p:sp>
      <p:sp>
        <p:nvSpPr>
          <p:cNvPr id="14" name="Text 8"/>
          <p:cNvSpPr/>
          <p:nvPr/>
        </p:nvSpPr>
        <p:spPr>
          <a:xfrm>
            <a:off x="5428655" y="4163973"/>
            <a:ext cx="3675221"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Material-Based Procurement</a:t>
            </a:r>
            <a:endParaRPr lang="en-US" sz="1950" dirty="0"/>
          </a:p>
        </p:txBody>
      </p:sp>
      <p:sp>
        <p:nvSpPr>
          <p:cNvPr id="15" name="Text 9"/>
          <p:cNvSpPr/>
          <p:nvPr/>
        </p:nvSpPr>
        <p:spPr>
          <a:xfrm>
            <a:off x="5428655" y="4593193"/>
            <a:ext cx="3772972" cy="2540318"/>
          </a:xfrm>
          <a:prstGeom prst="rect">
            <a:avLst/>
          </a:prstGeom>
          <a:noFill/>
          <a:ln/>
        </p:spPr>
        <p:txBody>
          <a:bodyPr wrap="square" lIns="0" tIns="0" rIns="0" bIns="0" rtlCol="0" anchor="t"/>
          <a:lstStyle/>
          <a:p>
            <a:pPr marL="0" indent="0" algn="l">
              <a:lnSpc>
                <a:spcPts val="2500"/>
              </a:lnSpc>
              <a:buNone/>
            </a:pPr>
            <a:r>
              <a:rPr lang="en-US" sz="1550" dirty="0">
                <a:ln w="0"/>
                <a:effectLst>
                  <a:outerShdw blurRad="38100" dist="19050" dir="2700000" algn="tl" rotWithShape="0">
                    <a:schemeClr val="dk1">
                      <a:alpha val="40000"/>
                    </a:schemeClr>
                  </a:outerShdw>
                </a:effectLst>
                <a:latin typeface="Open Sans" pitchFamily="34" charset="0"/>
                <a:ea typeface="Open Sans" pitchFamily="34" charset="-122"/>
                <a:cs typeface="Open Sans" pitchFamily="34" charset="-120"/>
              </a:rPr>
              <a:t>Utilise our </a:t>
            </a:r>
            <a:r>
              <a:rPr lang="en-US" sz="1550" dirty="0">
                <a:ln w="0"/>
                <a:effectLst>
                  <a:outerShdw blurRad="38100" dist="19050" dir="2700000" algn="tl" rotWithShape="0">
                    <a:schemeClr val="dk1">
                      <a:alpha val="40000"/>
                    </a:schemeClr>
                  </a:outerShdw>
                </a:effectLst>
                <a:highlight>
                  <a:srgbClr val="EEEDF2"/>
                </a:highlight>
                <a:latin typeface="Consolas" pitchFamily="34" charset="0"/>
                <a:ea typeface="Consolas" pitchFamily="34" charset="-122"/>
                <a:cs typeface="Consolas" pitchFamily="34" charset="-120"/>
              </a:rPr>
              <a:t>Material_Flag</a:t>
            </a:r>
            <a:r>
              <a:rPr lang="en-US" sz="1550" dirty="0">
                <a:ln w="0"/>
                <a:effectLst>
                  <a:outerShdw blurRad="38100" dist="19050" dir="2700000" algn="tl" rotWithShape="0">
                    <a:schemeClr val="dk1">
                      <a:alpha val="40000"/>
                    </a:schemeClr>
                  </a:outerShdw>
                </a:effectLst>
                <a:latin typeface="Open Sans" pitchFamily="34" charset="0"/>
                <a:ea typeface="Open Sans" pitchFamily="34" charset="-122"/>
                <a:cs typeface="Open Sans" pitchFamily="34" charset="-120"/>
              </a:rPr>
              <a:t> insight to categorise and tailor procurement strategies. High-volatility items, such as wool products, should be ordered in conservative, smaller batches. Conversely, stable items like denim can be ordered in larger, bulk quantities due to their consistent demand.</a:t>
            </a:r>
            <a:endParaRPr lang="en-US" sz="1550" dirty="0">
              <a:ln w="0"/>
              <a:effectLst>
                <a:outerShdw blurRad="38100" dist="19050" dir="2700000" algn="tl" rotWithShape="0">
                  <a:schemeClr val="dk1">
                    <a:alpha val="40000"/>
                  </a:schemeClr>
                </a:outerShdw>
              </a:effectLst>
            </a:endParaRPr>
          </a:p>
        </p:txBody>
      </p:sp>
      <p:sp>
        <p:nvSpPr>
          <p:cNvPr id="16" name="Shape 10"/>
          <p:cNvSpPr/>
          <p:nvPr/>
        </p:nvSpPr>
        <p:spPr>
          <a:xfrm>
            <a:off x="9621203" y="3667839"/>
            <a:ext cx="4215289" cy="3686889"/>
          </a:xfrm>
          <a:prstGeom prst="roundRect">
            <a:avLst>
              <a:gd name="adj" fmla="val 2976"/>
            </a:avLst>
          </a:prstGeom>
          <a:solidFill>
            <a:srgbClr val="FBFAFF"/>
          </a:solidFill>
          <a:ln/>
        </p:spPr>
        <p:txBody>
          <a:bodyPr/>
          <a:lstStyle/>
          <a:p>
            <a:endParaRPr lang="en-IN" dirty="0"/>
          </a:p>
        </p:txBody>
      </p:sp>
      <p:pic>
        <p:nvPicPr>
          <p:cNvPr id="17" name="Image 4" descr="preencoded.png"/>
          <p:cNvPicPr>
            <a:picLocks noChangeAspect="1"/>
          </p:cNvPicPr>
          <p:nvPr/>
        </p:nvPicPr>
        <p:blipFill>
          <a:blip r:embed="rId3"/>
          <a:stretch>
            <a:fillRect/>
          </a:stretch>
        </p:blipFill>
        <p:spPr>
          <a:xfrm>
            <a:off x="9621203" y="3644979"/>
            <a:ext cx="4215289" cy="91440"/>
          </a:xfrm>
          <a:prstGeom prst="rect">
            <a:avLst/>
          </a:prstGeom>
        </p:spPr>
      </p:pic>
      <p:pic>
        <p:nvPicPr>
          <p:cNvPr id="18" name="Image 5" descr="preencoded.png"/>
          <p:cNvPicPr>
            <a:picLocks noChangeAspect="1"/>
          </p:cNvPicPr>
          <p:nvPr/>
        </p:nvPicPr>
        <p:blipFill>
          <a:blip r:embed="rId4"/>
          <a:stretch>
            <a:fillRect/>
          </a:stretch>
        </p:blipFill>
        <p:spPr>
          <a:xfrm>
            <a:off x="11431191" y="3370183"/>
            <a:ext cx="595313" cy="595313"/>
          </a:xfrm>
          <a:prstGeom prst="rect">
            <a:avLst/>
          </a:prstGeom>
        </p:spPr>
      </p:pic>
      <p:sp>
        <p:nvSpPr>
          <p:cNvPr id="19" name="Text 11"/>
          <p:cNvSpPr/>
          <p:nvPr/>
        </p:nvSpPr>
        <p:spPr>
          <a:xfrm>
            <a:off x="11609784" y="3519011"/>
            <a:ext cx="238125" cy="297656"/>
          </a:xfrm>
          <a:prstGeom prst="rect">
            <a:avLst/>
          </a:prstGeom>
          <a:noFill/>
          <a:ln/>
        </p:spPr>
        <p:txBody>
          <a:bodyPr wrap="none" lIns="0" tIns="0" rIns="0" bIns="0" rtlCol="0" anchor="t"/>
          <a:lstStyle/>
          <a:p>
            <a:pPr marL="0" indent="0" algn="l">
              <a:lnSpc>
                <a:spcPts val="3000"/>
              </a:lnSpc>
              <a:buNone/>
            </a:pPr>
            <a:r>
              <a:rPr lang="en-US" sz="1850" dirty="0">
                <a:solidFill>
                  <a:srgbClr val="FFFFFF"/>
                </a:solidFill>
                <a:latin typeface="Libre Baskerville" pitchFamily="34" charset="0"/>
                <a:ea typeface="Libre Baskerville" pitchFamily="34" charset="-122"/>
                <a:cs typeface="Libre Baskerville" pitchFamily="34" charset="-120"/>
              </a:rPr>
              <a:t>3</a:t>
            </a:r>
            <a:endParaRPr lang="en-US" sz="1850" dirty="0"/>
          </a:p>
        </p:txBody>
      </p:sp>
      <p:sp>
        <p:nvSpPr>
          <p:cNvPr id="20" name="Text 12"/>
          <p:cNvSpPr/>
          <p:nvPr/>
        </p:nvSpPr>
        <p:spPr>
          <a:xfrm>
            <a:off x="9842421" y="4163973"/>
            <a:ext cx="3451503" cy="310158"/>
          </a:xfrm>
          <a:prstGeom prst="rect">
            <a:avLst/>
          </a:prstGeom>
          <a:noFill/>
          <a:ln/>
        </p:spPr>
        <p:txBody>
          <a:bodyPr wrap="none" lIns="0" tIns="0" rIns="0" bIns="0" rtlCol="0" anchor="t"/>
          <a:lstStyle/>
          <a:p>
            <a:pPr marL="0" indent="0" algn="l">
              <a:lnSpc>
                <a:spcPts val="2400"/>
              </a:lnSpc>
              <a:buNone/>
            </a:pPr>
            <a:r>
              <a:rPr lang="en-US" sz="1950" dirty="0">
                <a:solidFill>
                  <a:srgbClr val="49495A"/>
                </a:solidFill>
                <a:latin typeface="Libre Baskerville" pitchFamily="34" charset="0"/>
                <a:ea typeface="Libre Baskerville" pitchFamily="34" charset="-122"/>
                <a:cs typeface="Libre Baskerville" pitchFamily="34" charset="-120"/>
              </a:rPr>
              <a:t>Strategic Clearance Timing</a:t>
            </a:r>
            <a:endParaRPr lang="en-US" sz="1950" dirty="0"/>
          </a:p>
        </p:txBody>
      </p:sp>
      <p:sp>
        <p:nvSpPr>
          <p:cNvPr id="21" name="Text 13"/>
          <p:cNvSpPr/>
          <p:nvPr/>
        </p:nvSpPr>
        <p:spPr>
          <a:xfrm>
            <a:off x="9842421" y="4593193"/>
            <a:ext cx="3772853" cy="2222778"/>
          </a:xfrm>
          <a:prstGeom prst="rect">
            <a:avLst/>
          </a:prstGeom>
          <a:noFill/>
          <a:ln/>
        </p:spPr>
        <p:txBody>
          <a:bodyPr wrap="square" lIns="0" tIns="0" rIns="0" bIns="0" rtlCol="0" anchor="t"/>
          <a:lstStyle/>
          <a:p>
            <a:pPr>
              <a:lnSpc>
                <a:spcPts val="2500"/>
              </a:lnSpc>
            </a:pPr>
            <a:r>
              <a:rPr lang="en-US" sz="1550" dirty="0">
                <a:ln w="0"/>
                <a:effectLst>
                  <a:outerShdw blurRad="38100" dist="19050" dir="2700000" algn="tl" rotWithShape="0">
                    <a:schemeClr val="dk1">
                      <a:alpha val="40000"/>
                    </a:schemeClr>
                  </a:outerShdw>
                </a:effectLst>
                <a:latin typeface="Open Sans" panose="020B0606030504020204" pitchFamily="34" charset="0"/>
                <a:ea typeface="Open Sans" panose="020B0606030504020204" pitchFamily="34" charset="0"/>
                <a:cs typeface="Open Sans" panose="020B0606030504020204" pitchFamily="34" charset="0"/>
              </a:rPr>
              <a:t>Implement "End of Season" sales precisely two weeks post-peak demand, </a:t>
            </a:r>
            <a:r>
              <a:rPr lang="en-US" sz="1600" dirty="0">
                <a:ln w="0"/>
                <a:effectLst>
                  <a:outerShdw blurRad="38100" dist="19050" dir="2700000" algn="tl" rotWithShape="0">
                    <a:schemeClr val="dk1">
                      <a:alpha val="40000"/>
                    </a:schemeClr>
                  </a:outerShdw>
                </a:effectLst>
                <a:latin typeface="Open Sans" panose="020B0606030504020204" pitchFamily="34" charset="0"/>
                <a:ea typeface="Open Sans" panose="020B0606030504020204" pitchFamily="34" charset="0"/>
                <a:cs typeface="Open Sans" panose="020B0606030504020204" pitchFamily="34" charset="0"/>
              </a:rPr>
              <a:t>aligning with the observed Mid-October Dip. </a:t>
            </a:r>
            <a:r>
              <a:rPr lang="en-US" sz="1550" dirty="0">
                <a:ln w="0"/>
                <a:effectLst>
                  <a:outerShdw blurRad="38100" dist="19050" dir="2700000" algn="tl" rotWithShape="0">
                    <a:schemeClr val="dk1">
                      <a:alpha val="40000"/>
                    </a:schemeClr>
                  </a:outerShdw>
                </a:effectLst>
                <a:latin typeface="Open Sans" panose="020B0606030504020204" pitchFamily="34" charset="0"/>
                <a:ea typeface="Open Sans" panose="020B0606030504020204" pitchFamily="34" charset="0"/>
                <a:cs typeface="Open Sans" panose="020B0606030504020204" pitchFamily="34" charset="0"/>
              </a:rPr>
              <a:t>This strategic timing will efficiently clear floor space, reduce storage costs, and minimise the need for deeper discounts later in the season.</a:t>
            </a:r>
          </a:p>
        </p:txBody>
      </p:sp>
      <p:pic>
        <p:nvPicPr>
          <p:cNvPr id="22" name="Picture 21">
            <a:extLst>
              <a:ext uri="{FF2B5EF4-FFF2-40B4-BE49-F238E27FC236}">
                <a16:creationId xmlns:a16="http://schemas.microsoft.com/office/drawing/2014/main" id="{0B6AB03E-7541-F42E-AF2C-827B2A39D14E}"/>
              </a:ext>
            </a:extLst>
          </p:cNvPr>
          <p:cNvPicPr>
            <a:picLocks noChangeAspect="1"/>
          </p:cNvPicPr>
          <p:nvPr/>
        </p:nvPicPr>
        <p:blipFill>
          <a:blip r:embed="rId5"/>
          <a:stretch>
            <a:fillRect/>
          </a:stretch>
        </p:blipFill>
        <p:spPr>
          <a:xfrm>
            <a:off x="12902198" y="7786449"/>
            <a:ext cx="1728202" cy="3602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76526" y="688300"/>
            <a:ext cx="10111740" cy="606743"/>
          </a:xfrm>
          <a:prstGeom prst="rect">
            <a:avLst/>
          </a:prstGeom>
          <a:noFill/>
          <a:ln/>
        </p:spPr>
        <p:txBody>
          <a:bodyPr wrap="none" lIns="0" tIns="0" rIns="0" bIns="0" rtlCol="0" anchor="t"/>
          <a:lstStyle/>
          <a:p>
            <a:pPr marL="0" indent="0" algn="l">
              <a:lnSpc>
                <a:spcPts val="4750"/>
              </a:lnSpc>
              <a:buNone/>
            </a:pPr>
            <a:r>
              <a:rPr lang="en-US" sz="3800" dirty="0">
                <a:solidFill>
                  <a:srgbClr val="403CCF"/>
                </a:solidFill>
                <a:latin typeface="Libre Baskerville" pitchFamily="34" charset="0"/>
                <a:ea typeface="Libre Baskerville" pitchFamily="34" charset="-122"/>
                <a:cs typeface="Libre Baskerville" pitchFamily="34" charset="-120"/>
              </a:rPr>
              <a:t>Technical Reflection: Tools &amp; Challenges</a:t>
            </a:r>
            <a:endParaRPr lang="en-US" sz="3800" dirty="0"/>
          </a:p>
        </p:txBody>
      </p:sp>
      <p:sp>
        <p:nvSpPr>
          <p:cNvPr id="3" name="Text 1"/>
          <p:cNvSpPr/>
          <p:nvPr/>
        </p:nvSpPr>
        <p:spPr>
          <a:xfrm>
            <a:off x="776526" y="1683306"/>
            <a:ext cx="13077349" cy="310634"/>
          </a:xfrm>
          <a:prstGeom prst="rect">
            <a:avLst/>
          </a:prstGeom>
          <a:noFill/>
          <a:ln/>
        </p:spPr>
        <p:txBody>
          <a:bodyPr wrap="non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Our project leveraged a suite of powerful R libraries to achieve our forecasting objectives, navigating several technical challenges along the way.</a:t>
            </a:r>
            <a:endParaRPr lang="en-US" sz="1500" dirty="0"/>
          </a:p>
        </p:txBody>
      </p:sp>
      <p:sp>
        <p:nvSpPr>
          <p:cNvPr id="4" name="Text 2"/>
          <p:cNvSpPr/>
          <p:nvPr/>
        </p:nvSpPr>
        <p:spPr>
          <a:xfrm>
            <a:off x="776526" y="2285167"/>
            <a:ext cx="3737134" cy="363974"/>
          </a:xfrm>
          <a:prstGeom prst="rect">
            <a:avLst/>
          </a:prstGeom>
          <a:noFill/>
          <a:ln/>
        </p:spPr>
        <p:txBody>
          <a:bodyPr wrap="none" lIns="0" tIns="0" rIns="0" bIns="0" rtlCol="0" anchor="t"/>
          <a:lstStyle/>
          <a:p>
            <a:pPr marL="0" indent="0" algn="l">
              <a:lnSpc>
                <a:spcPts val="2850"/>
              </a:lnSpc>
              <a:buNone/>
            </a:pPr>
            <a:r>
              <a:rPr lang="en-US" sz="2250" dirty="0">
                <a:solidFill>
                  <a:srgbClr val="403CCF"/>
                </a:solidFill>
                <a:latin typeface="Libre Baskerville" pitchFamily="34" charset="0"/>
                <a:ea typeface="Libre Baskerville" pitchFamily="34" charset="-122"/>
                <a:cs typeface="Libre Baskerville" pitchFamily="34" charset="-120"/>
              </a:rPr>
              <a:t>The Toolkit (R Libraries):</a:t>
            </a:r>
            <a:endParaRPr lang="en-US" sz="2250" dirty="0"/>
          </a:p>
        </p:txBody>
      </p:sp>
      <p:sp>
        <p:nvSpPr>
          <p:cNvPr id="5" name="Text 3"/>
          <p:cNvSpPr/>
          <p:nvPr/>
        </p:nvSpPr>
        <p:spPr>
          <a:xfrm>
            <a:off x="776526" y="2940367"/>
            <a:ext cx="13077349" cy="310634"/>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49495A"/>
                </a:solidFill>
                <a:latin typeface="Open Sans" pitchFamily="34" charset="0"/>
                <a:ea typeface="Open Sans" pitchFamily="34" charset="-122"/>
                <a:cs typeface="Open Sans" pitchFamily="34" charset="-120"/>
              </a:rPr>
              <a:t>tidyverse &amp; dplyr:</a:t>
            </a:r>
            <a:r>
              <a:rPr lang="en-US" sz="1500" dirty="0">
                <a:solidFill>
                  <a:srgbClr val="49495A"/>
                </a:solidFill>
                <a:latin typeface="Open Sans" pitchFamily="34" charset="0"/>
                <a:ea typeface="Open Sans" pitchFamily="34" charset="-122"/>
                <a:cs typeface="Open Sans" pitchFamily="34" charset="-120"/>
              </a:rPr>
              <a:t> Essential for aggressive data cleaning, manipulation, and aggregation tasks, ensuring data quality and structure.</a:t>
            </a:r>
            <a:endParaRPr lang="en-US" sz="1500" dirty="0"/>
          </a:p>
        </p:txBody>
      </p:sp>
      <p:sp>
        <p:nvSpPr>
          <p:cNvPr id="6" name="Text 4"/>
          <p:cNvSpPr/>
          <p:nvPr/>
        </p:nvSpPr>
        <p:spPr>
          <a:xfrm>
            <a:off x="776526" y="3318867"/>
            <a:ext cx="13077349" cy="310634"/>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49495A"/>
                </a:solidFill>
                <a:latin typeface="Open Sans" pitchFamily="34" charset="0"/>
                <a:ea typeface="Open Sans" pitchFamily="34" charset="-122"/>
                <a:cs typeface="Open Sans" pitchFamily="34" charset="-120"/>
              </a:rPr>
              <a:t>ggplot2:</a:t>
            </a:r>
            <a:r>
              <a:rPr lang="en-US" sz="1500" dirty="0">
                <a:solidFill>
                  <a:srgbClr val="49495A"/>
                </a:solidFill>
                <a:latin typeface="Open Sans" pitchFamily="34" charset="0"/>
                <a:ea typeface="Open Sans" pitchFamily="34" charset="-122"/>
                <a:cs typeface="Open Sans" pitchFamily="34" charset="-120"/>
              </a:rPr>
              <a:t> Used extensively for visualising the "Seasonal Heartbeat" of fashion sales and generating insightful evaluation plots.</a:t>
            </a:r>
            <a:endParaRPr lang="en-US" sz="1500" dirty="0"/>
          </a:p>
        </p:txBody>
      </p:sp>
      <p:sp>
        <p:nvSpPr>
          <p:cNvPr id="7" name="Text 5"/>
          <p:cNvSpPr/>
          <p:nvPr/>
        </p:nvSpPr>
        <p:spPr>
          <a:xfrm>
            <a:off x="776526" y="3697367"/>
            <a:ext cx="13077349" cy="310634"/>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49495A"/>
                </a:solidFill>
                <a:latin typeface="Open Sans" pitchFamily="34" charset="0"/>
                <a:ea typeface="Open Sans" pitchFamily="34" charset="-122"/>
                <a:cs typeface="Open Sans" pitchFamily="34" charset="-120"/>
              </a:rPr>
              <a:t>randomForest:</a:t>
            </a:r>
            <a:r>
              <a:rPr lang="en-US" sz="1500" dirty="0">
                <a:solidFill>
                  <a:srgbClr val="49495A"/>
                </a:solidFill>
                <a:latin typeface="Open Sans" pitchFamily="34" charset="0"/>
                <a:ea typeface="Open Sans" pitchFamily="34" charset="-122"/>
                <a:cs typeface="Open Sans" pitchFamily="34" charset="-120"/>
              </a:rPr>
              <a:t> Served as the core predictive engine for our demand forecasting model, leveraging its robust capabilities.</a:t>
            </a:r>
            <a:endParaRPr lang="en-US" sz="1500" dirty="0"/>
          </a:p>
        </p:txBody>
      </p:sp>
      <p:sp>
        <p:nvSpPr>
          <p:cNvPr id="8" name="Text 6"/>
          <p:cNvSpPr/>
          <p:nvPr/>
        </p:nvSpPr>
        <p:spPr>
          <a:xfrm>
            <a:off x="776526" y="4075867"/>
            <a:ext cx="13077349" cy="310634"/>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49495A"/>
                </a:solidFill>
                <a:latin typeface="Open Sans" pitchFamily="34" charset="0"/>
                <a:ea typeface="Open Sans" pitchFamily="34" charset="-122"/>
                <a:cs typeface="Open Sans" pitchFamily="34" charset="-120"/>
              </a:rPr>
              <a:t>caret:</a:t>
            </a:r>
            <a:r>
              <a:rPr lang="en-US" sz="1500" dirty="0">
                <a:solidFill>
                  <a:srgbClr val="49495A"/>
                </a:solidFill>
                <a:latin typeface="Open Sans" pitchFamily="34" charset="0"/>
                <a:ea typeface="Open Sans" pitchFamily="34" charset="-122"/>
                <a:cs typeface="Open Sans" pitchFamily="34" charset="-120"/>
              </a:rPr>
              <a:t> Instrumental for splitting our dataset into training and testing sets and accurately calculating the Root Mean Squared Error (RMSE).</a:t>
            </a:r>
            <a:endParaRPr lang="en-US" sz="1500" dirty="0"/>
          </a:p>
        </p:txBody>
      </p:sp>
      <p:sp>
        <p:nvSpPr>
          <p:cNvPr id="9" name="Text 7"/>
          <p:cNvSpPr/>
          <p:nvPr/>
        </p:nvSpPr>
        <p:spPr>
          <a:xfrm>
            <a:off x="776526" y="4677728"/>
            <a:ext cx="3913227" cy="363974"/>
          </a:xfrm>
          <a:prstGeom prst="rect">
            <a:avLst/>
          </a:prstGeom>
          <a:noFill/>
          <a:ln/>
        </p:spPr>
        <p:txBody>
          <a:bodyPr wrap="none" lIns="0" tIns="0" rIns="0" bIns="0" rtlCol="0" anchor="t"/>
          <a:lstStyle/>
          <a:p>
            <a:pPr marL="0" indent="0" algn="l">
              <a:lnSpc>
                <a:spcPts val="2850"/>
              </a:lnSpc>
              <a:buNone/>
            </a:pPr>
            <a:r>
              <a:rPr lang="en-US" sz="2250" dirty="0">
                <a:solidFill>
                  <a:srgbClr val="403CCF"/>
                </a:solidFill>
                <a:latin typeface="Libre Baskerville" pitchFamily="34" charset="0"/>
                <a:ea typeface="Libre Baskerville" pitchFamily="34" charset="-122"/>
                <a:cs typeface="Libre Baskerville" pitchFamily="34" charset="-120"/>
              </a:rPr>
              <a:t>Biggest Coding Challenge:</a:t>
            </a:r>
            <a:endParaRPr lang="en-US" sz="2250" dirty="0"/>
          </a:p>
        </p:txBody>
      </p:sp>
      <p:sp>
        <p:nvSpPr>
          <p:cNvPr id="10" name="Text 8"/>
          <p:cNvSpPr/>
          <p:nvPr/>
        </p:nvSpPr>
        <p:spPr>
          <a:xfrm>
            <a:off x="1067753" y="5551289"/>
            <a:ext cx="12786122" cy="931902"/>
          </a:xfrm>
          <a:prstGeom prst="rect">
            <a:avLst/>
          </a:prstGeom>
          <a:noFill/>
          <a:ln/>
        </p:spPr>
        <p:txBody>
          <a:bodyPr wrap="square" lIns="0" tIns="0" rIns="0" bIns="0" rtlCol="0" anchor="t"/>
          <a:lstStyle/>
          <a:p>
            <a:pPr marL="0" indent="0" algn="l">
              <a:lnSpc>
                <a:spcPts val="2400"/>
              </a:lnSpc>
              <a:buNone/>
            </a:pPr>
            <a:r>
              <a:rPr lang="en-US" sz="1500" b="1" dirty="0">
                <a:solidFill>
                  <a:srgbClr val="49495A"/>
                </a:solidFill>
                <a:latin typeface="Open Sans" pitchFamily="34" charset="0"/>
                <a:ea typeface="Open Sans" pitchFamily="34" charset="-122"/>
                <a:cs typeface="Open Sans" pitchFamily="34" charset="-120"/>
              </a:rPr>
              <a:t>Handling "Lagged" Variables:</a:t>
            </a:r>
            <a:r>
              <a:rPr lang="en-US" sz="1500" dirty="0">
                <a:solidFill>
                  <a:srgbClr val="49495A"/>
                </a:solidFill>
                <a:latin typeface="Open Sans" pitchFamily="34" charset="0"/>
                <a:ea typeface="Open Sans" pitchFamily="34" charset="-122"/>
                <a:cs typeface="Open Sans" pitchFamily="34" charset="-120"/>
              </a:rPr>
              <a:t> The most complex technical hurdle was correctly shifting the dataset to create the </a:t>
            </a:r>
            <a:r>
              <a:rPr lang="en-US" sz="1500" dirty="0">
                <a:solidFill>
                  <a:srgbClr val="49495A"/>
                </a:solidFill>
                <a:highlight>
                  <a:srgbClr val="EEEDF2"/>
                </a:highlight>
                <a:latin typeface="Consolas" pitchFamily="34" charset="0"/>
                <a:ea typeface="Consolas" pitchFamily="34" charset="-122"/>
                <a:cs typeface="Consolas" pitchFamily="34" charset="-120"/>
              </a:rPr>
              <a:t>Lag_1_Week</a:t>
            </a:r>
            <a:r>
              <a:rPr lang="en-US" sz="1500" dirty="0">
                <a:solidFill>
                  <a:srgbClr val="49495A"/>
                </a:solidFill>
                <a:latin typeface="Open Sans" pitchFamily="34" charset="0"/>
                <a:ea typeface="Open Sans" pitchFamily="34" charset="-122"/>
                <a:cs typeface="Open Sans" pitchFamily="34" charset="-120"/>
              </a:rPr>
              <a:t> feature. This required meticulous attention to avoid breaking the inherent time sequence of the data or inadvertently introducing data leakage, which could compromise model integrity and accuracy.</a:t>
            </a:r>
            <a:endParaRPr lang="en-US" sz="1500" dirty="0"/>
          </a:p>
        </p:txBody>
      </p:sp>
      <p:sp>
        <p:nvSpPr>
          <p:cNvPr id="11" name="Shape 9"/>
          <p:cNvSpPr/>
          <p:nvPr/>
        </p:nvSpPr>
        <p:spPr>
          <a:xfrm>
            <a:off x="776526" y="5332928"/>
            <a:ext cx="22860" cy="1368623"/>
          </a:xfrm>
          <a:prstGeom prst="rect">
            <a:avLst/>
          </a:prstGeom>
          <a:solidFill>
            <a:srgbClr val="403CCF"/>
          </a:solidFill>
          <a:ln/>
        </p:spPr>
      </p:sp>
      <p:sp>
        <p:nvSpPr>
          <p:cNvPr id="12" name="Text 10"/>
          <p:cNvSpPr/>
          <p:nvPr/>
        </p:nvSpPr>
        <p:spPr>
          <a:xfrm>
            <a:off x="776526" y="6919913"/>
            <a:ext cx="13077349" cy="621268"/>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Overcoming this challenge was crucial for building a reliable time-series forecasting model capable of capturing the dynamic nature of fashion retail demand.</a:t>
            </a:r>
            <a:endParaRPr lang="en-US" sz="1500" dirty="0"/>
          </a:p>
        </p:txBody>
      </p:sp>
      <p:pic>
        <p:nvPicPr>
          <p:cNvPr id="13" name="Picture 12">
            <a:extLst>
              <a:ext uri="{FF2B5EF4-FFF2-40B4-BE49-F238E27FC236}">
                <a16:creationId xmlns:a16="http://schemas.microsoft.com/office/drawing/2014/main" id="{B666B812-546E-F5B2-49B6-CBB7BB012E4D}"/>
              </a:ext>
            </a:extLst>
          </p:cNvPr>
          <p:cNvPicPr>
            <a:picLocks noChangeAspect="1"/>
          </p:cNvPicPr>
          <p:nvPr/>
        </p:nvPicPr>
        <p:blipFill>
          <a:blip r:embed="rId3"/>
          <a:stretch>
            <a:fillRect/>
          </a:stretch>
        </p:blipFill>
        <p:spPr>
          <a:xfrm>
            <a:off x="12902198" y="7786449"/>
            <a:ext cx="1728202" cy="3602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F64AF8-A5AC-BD0D-2F7A-984927144BBE}"/>
              </a:ext>
            </a:extLst>
          </p:cNvPr>
          <p:cNvSpPr txBox="1"/>
          <p:nvPr/>
        </p:nvSpPr>
        <p:spPr>
          <a:xfrm>
            <a:off x="2327723" y="1043492"/>
            <a:ext cx="9974953" cy="2308324"/>
          </a:xfrm>
          <a:prstGeom prst="rect">
            <a:avLst/>
          </a:prstGeom>
          <a:noFill/>
        </p:spPr>
        <p:txBody>
          <a:bodyPr wrap="square" rtlCol="0">
            <a:spAutoFit/>
          </a:bodyPr>
          <a:lstStyle/>
          <a:p>
            <a:pPr algn="ctr"/>
            <a:r>
              <a:rPr lang="en-US" sz="4800" dirty="0">
                <a:solidFill>
                  <a:srgbClr val="261BB5"/>
                </a:solidFill>
                <a:latin typeface="Open Sans" panose="020B0606030504020204" pitchFamily="34" charset="0"/>
                <a:ea typeface="Open Sans" panose="020B0606030504020204" pitchFamily="34" charset="0"/>
                <a:cs typeface="Open Sans" panose="020B0606030504020204" pitchFamily="34" charset="0"/>
              </a:rPr>
              <a:t>Q &amp; A</a:t>
            </a:r>
          </a:p>
          <a:p>
            <a:pPr algn="ctr"/>
            <a:r>
              <a:rPr lang="en-US" sz="4800" dirty="0">
                <a:solidFill>
                  <a:srgbClr val="261BB5"/>
                </a:solidFill>
                <a:latin typeface="Open Sans" panose="020B0606030504020204" pitchFamily="34" charset="0"/>
                <a:ea typeface="Open Sans" panose="020B0606030504020204" pitchFamily="34" charset="0"/>
                <a:cs typeface="Open Sans" panose="020B0606030504020204" pitchFamily="34" charset="0"/>
              </a:rPr>
              <a:t> </a:t>
            </a:r>
            <a:r>
              <a:rPr lang="en-US" sz="4800" b="1" dirty="0">
                <a:solidFill>
                  <a:srgbClr val="261BB5"/>
                </a:solidFill>
                <a:latin typeface="Open Sans" panose="020B0606030504020204" pitchFamily="34" charset="0"/>
                <a:ea typeface="Open Sans" panose="020B0606030504020204" pitchFamily="34" charset="0"/>
                <a:cs typeface="Open Sans" panose="020B0606030504020204" pitchFamily="34" charset="0"/>
              </a:rPr>
              <a:t>Subtitle:</a:t>
            </a:r>
            <a:r>
              <a:rPr lang="en-US" sz="4800" dirty="0">
                <a:solidFill>
                  <a:srgbClr val="261BB5"/>
                </a:solidFill>
                <a:latin typeface="Open Sans" panose="020B0606030504020204" pitchFamily="34" charset="0"/>
                <a:ea typeface="Open Sans" panose="020B0606030504020204" pitchFamily="34" charset="0"/>
                <a:cs typeface="Open Sans" panose="020B0606030504020204" pitchFamily="34" charset="0"/>
              </a:rPr>
              <a:t> Project Discussion &amp; Technical Details</a:t>
            </a:r>
            <a:endParaRPr lang="en-IN" sz="4800" dirty="0">
              <a:solidFill>
                <a:srgbClr val="261BB5"/>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FCB87433-F35F-0988-A83C-FD6C3CFA6B96}"/>
              </a:ext>
            </a:extLst>
          </p:cNvPr>
          <p:cNvSpPr txBox="1"/>
          <p:nvPr/>
        </p:nvSpPr>
        <p:spPr>
          <a:xfrm>
            <a:off x="2492649" y="4877785"/>
            <a:ext cx="10705751" cy="523220"/>
          </a:xfrm>
          <a:prstGeom prst="rect">
            <a:avLst/>
          </a:prstGeom>
          <a:noFill/>
        </p:spPr>
        <p:txBody>
          <a:bodyPr wrap="none" rtlCol="0">
            <a:spAutoFit/>
          </a:bodyPr>
          <a:lstStyle/>
          <a:p>
            <a:r>
              <a:rPr lang="en-US" sz="2800" dirty="0"/>
              <a:t>We are happy to answer your questions and discuss our findings further</a:t>
            </a:r>
            <a:r>
              <a:rPr lang="en-US" dirty="0"/>
              <a:t>.</a:t>
            </a:r>
            <a:endParaRPr lang="en-IN" dirty="0"/>
          </a:p>
        </p:txBody>
      </p:sp>
    </p:spTree>
    <p:extLst>
      <p:ext uri="{BB962C8B-B14F-4D97-AF65-F5344CB8AC3E}">
        <p14:creationId xmlns:p14="http://schemas.microsoft.com/office/powerpoint/2010/main" val="83853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ED6DB5-2998-57CB-2F97-46D1F3F72A95}"/>
              </a:ext>
            </a:extLst>
          </p:cNvPr>
          <p:cNvSpPr txBox="1"/>
          <p:nvPr/>
        </p:nvSpPr>
        <p:spPr>
          <a:xfrm>
            <a:off x="989701" y="935915"/>
            <a:ext cx="10811437" cy="1323439"/>
          </a:xfrm>
          <a:prstGeom prst="rect">
            <a:avLst/>
          </a:prstGeom>
          <a:noFill/>
        </p:spPr>
        <p:txBody>
          <a:bodyPr wrap="square" rtlCol="0">
            <a:spAutoFit/>
          </a:bodyPr>
          <a:lstStyle/>
          <a:p>
            <a:r>
              <a:rPr lang="en-IN" sz="4400" dirty="0">
                <a:solidFill>
                  <a:srgbClr val="261BB5"/>
                </a:solidFill>
                <a:latin typeface="Open Sans" panose="020B0606030504020204" pitchFamily="34" charset="0"/>
                <a:ea typeface="Open Sans" panose="020B0606030504020204" pitchFamily="34" charset="0"/>
                <a:cs typeface="Open Sans" panose="020B0606030504020204" pitchFamily="34" charset="0"/>
              </a:rPr>
              <a:t>                              </a:t>
            </a:r>
            <a:r>
              <a:rPr lang="en-IN" sz="4400" dirty="0">
                <a:solidFill>
                  <a:srgbClr val="261BB5"/>
                </a:solidFill>
                <a:latin typeface="Century Schoolbook" panose="02040604050505020304" pitchFamily="18" charset="0"/>
                <a:ea typeface="Open Sans" panose="020B0606030504020204" pitchFamily="34" charset="0"/>
                <a:cs typeface="Open Sans" panose="020B0606030504020204" pitchFamily="34" charset="0"/>
              </a:rPr>
              <a:t>Thank You</a:t>
            </a:r>
          </a:p>
          <a:p>
            <a:r>
              <a:rPr lang="en-IN" sz="3600" dirty="0">
                <a:solidFill>
                  <a:srgbClr val="261BB5"/>
                </a:solidFill>
                <a:latin typeface="Open Sans" panose="020B0606030504020204" pitchFamily="34" charset="0"/>
                <a:ea typeface="Open Sans" panose="020B0606030504020204" pitchFamily="34" charset="0"/>
                <a:cs typeface="Open Sans" panose="020B0606030504020204" pitchFamily="34" charset="0"/>
              </a:rPr>
              <a:t>Team B11</a:t>
            </a:r>
          </a:p>
        </p:txBody>
      </p:sp>
      <p:sp>
        <p:nvSpPr>
          <p:cNvPr id="3" name="TextBox 2">
            <a:extLst>
              <a:ext uri="{FF2B5EF4-FFF2-40B4-BE49-F238E27FC236}">
                <a16:creationId xmlns:a16="http://schemas.microsoft.com/office/drawing/2014/main" id="{4F930B32-0B09-5EA8-AE91-774C1098E478}"/>
              </a:ext>
            </a:extLst>
          </p:cNvPr>
          <p:cNvSpPr txBox="1"/>
          <p:nvPr/>
        </p:nvSpPr>
        <p:spPr>
          <a:xfrm>
            <a:off x="989701" y="3760792"/>
            <a:ext cx="7928385" cy="1015663"/>
          </a:xfrm>
          <a:prstGeom prst="rect">
            <a:avLst/>
          </a:prstGeom>
          <a:noFill/>
        </p:spPr>
        <p:txBody>
          <a:bodyPr wrap="square" rtlCol="0">
            <a:spAutoFit/>
          </a:bodyPr>
          <a:lstStyle/>
          <a:p>
            <a:r>
              <a:rPr lang="en-US" sz="2000" b="1" dirty="0">
                <a:latin typeface="Open Sans" panose="020B0606030504020204" pitchFamily="34" charset="0"/>
                <a:ea typeface="Open Sans" panose="020B0606030504020204" pitchFamily="34" charset="0"/>
                <a:cs typeface="Open Sans" panose="020B0606030504020204" pitchFamily="34" charset="0"/>
              </a:rPr>
              <a:t>Project Code &amp; Resources:</a:t>
            </a:r>
            <a:r>
              <a:rPr lang="en-US" sz="2000" dirty="0">
                <a:latin typeface="Open Sans" panose="020B0606030504020204" pitchFamily="34" charset="0"/>
                <a:ea typeface="Open Sans" panose="020B0606030504020204" pitchFamily="34" charset="0"/>
                <a:cs typeface="Open Sans" panose="020B0606030504020204" pitchFamily="34" charset="0"/>
              </a:rPr>
              <a:t> 📂 </a:t>
            </a:r>
            <a:r>
              <a:rPr lang="en-US" sz="2000" b="1" dirty="0">
                <a:latin typeface="Open Sans" panose="020B0606030504020204" pitchFamily="34" charset="0"/>
                <a:ea typeface="Open Sans" panose="020B0606030504020204" pitchFamily="34" charset="0"/>
                <a:cs typeface="Open Sans" panose="020B0606030504020204" pitchFamily="34" charset="0"/>
              </a:rPr>
              <a:t>GitHub Repository:</a:t>
            </a:r>
            <a:r>
              <a:rPr lang="en-US" sz="2000" dirty="0">
                <a:latin typeface="Open Sans" panose="020B0606030504020204" pitchFamily="34" charset="0"/>
                <a:ea typeface="Open Sans" panose="020B0606030504020204" pitchFamily="34" charset="0"/>
                <a:cs typeface="Open Sans" panose="020B0606030504020204" pitchFamily="34" charset="0"/>
              </a:rPr>
              <a:t> https://github.com/YADAVSWETA27/DataScience_Project_Fashion-Seasonal-Trend-Forecasting</a:t>
            </a:r>
            <a:endParaRPr lang="en-IN"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069BA39D-C098-945A-4D93-D1125814FD1F}"/>
              </a:ext>
            </a:extLst>
          </p:cNvPr>
          <p:cNvSpPr txBox="1"/>
          <p:nvPr/>
        </p:nvSpPr>
        <p:spPr>
          <a:xfrm>
            <a:off x="989701" y="5325035"/>
            <a:ext cx="5258555" cy="1200329"/>
          </a:xfrm>
          <a:prstGeom prst="rect">
            <a:avLst/>
          </a:prstGeom>
          <a:noFill/>
        </p:spPr>
        <p:txBody>
          <a:bodyPr wrap="square" rtlCol="0">
            <a:spAutoFit/>
          </a:bodyPr>
          <a:lstStyle/>
          <a:p>
            <a:r>
              <a:rPr lang="en-US" b="1" dirty="0">
                <a:latin typeface="Open Sans" panose="020B0606030504020204" pitchFamily="34" charset="0"/>
                <a:ea typeface="Open Sans" panose="020B0606030504020204" pitchFamily="34" charset="0"/>
                <a:cs typeface="Open Sans" panose="020B0606030504020204" pitchFamily="34" charset="0"/>
              </a:rPr>
              <a:t>Credits:</a:t>
            </a:r>
            <a:endParaRPr lang="en-US" dirty="0">
              <a:latin typeface="Open Sans" panose="020B0606030504020204" pitchFamily="34" charset="0"/>
              <a:ea typeface="Open Sans" panose="020B0606030504020204" pitchFamily="34" charset="0"/>
              <a:cs typeface="Open Sans" panose="020B0606030504020204" pitchFamily="34" charset="0"/>
            </a:endParaRPr>
          </a:p>
          <a:p>
            <a:r>
              <a:rPr lang="en-US" b="1" dirty="0">
                <a:latin typeface="Open Sans" panose="020B0606030504020204" pitchFamily="34" charset="0"/>
                <a:ea typeface="Open Sans" panose="020B0606030504020204" pitchFamily="34" charset="0"/>
                <a:cs typeface="Open Sans" panose="020B0606030504020204" pitchFamily="34" charset="0"/>
              </a:rPr>
              <a:t>Data Source:</a:t>
            </a:r>
            <a:r>
              <a:rPr lang="en-US" dirty="0">
                <a:latin typeface="Open Sans" panose="020B0606030504020204" pitchFamily="34" charset="0"/>
                <a:ea typeface="Open Sans" panose="020B0606030504020204" pitchFamily="34" charset="0"/>
                <a:cs typeface="Open Sans" panose="020B0606030504020204" pitchFamily="34" charset="0"/>
              </a:rPr>
              <a:t> H&amp;M Group (Kaggle)</a:t>
            </a:r>
          </a:p>
          <a:p>
            <a:r>
              <a:rPr lang="en-US" b="1" dirty="0">
                <a:latin typeface="Open Sans" panose="020B0606030504020204" pitchFamily="34" charset="0"/>
                <a:ea typeface="Open Sans" panose="020B0606030504020204" pitchFamily="34" charset="0"/>
                <a:cs typeface="Open Sans" panose="020B0606030504020204" pitchFamily="34" charset="0"/>
              </a:rPr>
              <a:t>Analysis:</a:t>
            </a:r>
            <a:r>
              <a:rPr lang="en-US" dirty="0">
                <a:latin typeface="Open Sans" panose="020B0606030504020204" pitchFamily="34" charset="0"/>
                <a:ea typeface="Open Sans" panose="020B0606030504020204" pitchFamily="34" charset="0"/>
                <a:cs typeface="Open Sans" panose="020B0606030504020204" pitchFamily="34" charset="0"/>
              </a:rPr>
              <a:t> RStudio &amp; Random Forest Integration</a:t>
            </a:r>
          </a:p>
          <a:p>
            <a:endParaRPr lang="en-IN" dirty="0"/>
          </a:p>
        </p:txBody>
      </p:sp>
    </p:spTree>
    <p:extLst>
      <p:ext uri="{BB962C8B-B14F-4D97-AF65-F5344CB8AC3E}">
        <p14:creationId xmlns:p14="http://schemas.microsoft.com/office/powerpoint/2010/main" val="1452613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TotalTime>
  <Words>1651</Words>
  <Application>Microsoft Office PowerPoint</Application>
  <PresentationFormat>Custom</PresentationFormat>
  <Paragraphs>134</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Libre Baskerville Light</vt:lpstr>
      <vt:lpstr>Century Schoolbook</vt:lpstr>
      <vt:lpstr>Libre Baskerville</vt:lpstr>
      <vt:lpstr>Arial</vt:lpstr>
      <vt:lpstr>Open Sans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Jay mistry</dc:creator>
  <cp:lastModifiedBy>Jay mistry</cp:lastModifiedBy>
  <cp:revision>4</cp:revision>
  <dcterms:created xsi:type="dcterms:W3CDTF">2026-01-02T13:01:51Z</dcterms:created>
  <dcterms:modified xsi:type="dcterms:W3CDTF">2026-01-03T09:24:45Z</dcterms:modified>
</cp:coreProperties>
</file>